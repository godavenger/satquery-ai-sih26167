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4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ctr"/>
            <a:r>
              <a:rPr b="1">
                <a:latin typeface="Times New Roman"/>
              </a:rPr>
              <a:t>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SIH26167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SatQuery AI – An Interactive Vision-Language Assistant for Multimodal Remote Sensing Image Analysis through Text Queries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 – Space Technology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 – &lt;your team ID&gt;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SpectraX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algn="ctr" eaLnBrk="1" hangingPunct="1"/>
            <a:r>
              <a:rPr sz="2000" b="1">
                <a:solidFill>
                  <a:srgbClr val="123A5C"/>
                </a:solidFill>
                <a:latin typeface="Times New Roman"/>
              </a:rPr>
              <a:t>SatQuery AI — an agentic vision-language assistant for multimodal remote-sensing queries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9184" y="1115568"/>
            <a:ext cx="5650992" cy="17543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dirty="0">
                <a:solidFill>
                  <a:srgbClr val="123A5C"/>
                </a:solidFill>
                <a:latin typeface="Arial"/>
              </a:rPr>
              <a:t>Proposed Solution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9184" y="1330452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1408176"/>
            <a:ext cx="5650992" cy="14305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lang="en-GB" sz="1050" dirty="0"/>
              <a:t>Type a plain-language question over satellite imagery — an agentic controller (not a generic LLM) validates it, selects specialist models, and returns an evidence-grounded answer.</a:t>
            </a:r>
            <a:endParaRPr sz="1019" b="0" dirty="0">
              <a:solidFill>
                <a:srgbClr val="1B2430"/>
              </a:solidFill>
              <a:latin typeface="Arial"/>
            </a:endParaRP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sz="960" b="1" dirty="0">
                <a:solidFill>
                  <a:srgbClr val="1B2430"/>
                </a:solidFill>
                <a:latin typeface="Arial"/>
              </a:rPr>
              <a:t>Remote-sensing adaptation: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1B2430"/>
                </a:solidFill>
                <a:latin typeface="Arial"/>
              </a:rPr>
              <a:t>RemoteCLIP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/</a:t>
            </a:r>
            <a:r>
              <a:rPr sz="960" b="0" dirty="0" err="1">
                <a:solidFill>
                  <a:srgbClr val="1B2430"/>
                </a:solidFill>
                <a:latin typeface="Arial"/>
              </a:rPr>
              <a:t>SigLIP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 backbone </a:t>
            </a:r>
            <a:r>
              <a:rPr sz="960" b="0" dirty="0" err="1">
                <a:solidFill>
                  <a:srgbClr val="1B2430"/>
                </a:solidFill>
                <a:latin typeface="Arial"/>
              </a:rPr>
              <a:t>QLoRA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-tuned on BigEarthNet.txt (S1 SAR + S2 MSI + text); task adapters swapped at inference.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sz="960" b="1" dirty="0">
                <a:solidFill>
                  <a:srgbClr val="1B2430"/>
                </a:solidFill>
                <a:latin typeface="Arial"/>
              </a:rPr>
              <a:t>Six intents, one registry: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 VQA · describe · ground · change · change-QA · optical–SAR fusion.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sz="960" b="1" dirty="0">
                <a:solidFill>
                  <a:srgbClr val="1B2430"/>
                </a:solidFill>
                <a:latin typeface="Arial"/>
              </a:rPr>
              <a:t>Evidence, not prose: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 geo-anchored boxes and masks, change overlay, calibrated confidence, class areas, downloadable PDF report.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sz="960" b="1" dirty="0">
                <a:solidFill>
                  <a:srgbClr val="1B2430"/>
                </a:solidFill>
                <a:latin typeface="Arial"/>
              </a:rPr>
              <a:t>Working prototype today:</a:t>
            </a:r>
            <a:r>
              <a:rPr sz="960" b="0" dirty="0">
                <a:solidFill>
                  <a:srgbClr val="1B2430"/>
                </a:solidFill>
                <a:latin typeface="Arial"/>
              </a:rPr>
              <a:t> browser GUI with 3D globe, satellite basemap, 6 feature benches, live trace panel, rule-based router v1, offline fallback.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29184" y="2966989"/>
            <a:ext cx="5650992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>
                <a:solidFill>
                  <a:srgbClr val="123A5C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329184" y="3170051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367" name="Table 153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54655"/>
              </p:ext>
            </p:extLst>
          </p:nvPr>
        </p:nvGraphicFramePr>
        <p:xfrm>
          <a:off x="329184" y="3201685"/>
          <a:ext cx="565099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Barrier in the problem statement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SatQuery AI's answer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Single-task, siloed RS tools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One query bar; controller sequences the right specialists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Users must know GIS, sensors, parameters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Compatibility gate + parameter binding are automatic and logged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One optical image is often not enough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>
                          <a:solidFill>
                            <a:srgbClr val="1B2430"/>
                          </a:solidFill>
                          <a:latin typeface="Arial"/>
                        </a:rPr>
                        <a:t>Bi-temporal and co-registered optical–SAR pairs are first-class inputs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 dirty="0">
                          <a:solidFill>
                            <a:srgbClr val="1B2430"/>
                          </a:solidFill>
                          <a:latin typeface="Arial"/>
                        </a:rPr>
                        <a:t>Generic VLMs are unreliable on RS imagery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90" b="0" dirty="0">
                          <a:solidFill>
                            <a:srgbClr val="1B2430"/>
                          </a:solidFill>
                          <a:latin typeface="Arial"/>
                        </a:rPr>
                        <a:t>Domain-adapted backbone; a generic model is explicitly not used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68" name="TextBox 15367"/>
          <p:cNvSpPr txBox="1"/>
          <p:nvPr/>
        </p:nvSpPr>
        <p:spPr>
          <a:xfrm>
            <a:off x="6144768" y="1115568"/>
            <a:ext cx="5718017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>
                <a:solidFill>
                  <a:srgbClr val="123A5C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6144768" y="1330452"/>
            <a:ext cx="57180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6144768" y="1408176"/>
            <a:ext cx="5718017" cy="95058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lang="en-GB" sz="960" b="1" dirty="0">
                <a:latin typeface="Arial" panose="020B0604020202020204" pitchFamily="34" charset="0"/>
                <a:cs typeface="Arial" panose="020B0604020202020204" pitchFamily="34" charset="0"/>
              </a:rPr>
              <a:t>Cross-model conflict detection — disagreement between specialists (e.g. grounding vs VQA) drops confidence and surfaces the conflict, something no single VLM can do.</a:t>
            </a:r>
            <a:endParaRPr sz="960" b="1" dirty="0">
              <a:solidFill>
                <a:srgbClr val="1B2430"/>
              </a:solidFill>
              <a:latin typeface="Arial"/>
            </a:endParaRP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  </a:t>
            </a:r>
            <a:r>
              <a:rPr lang="en-GB" sz="960" b="1" dirty="0">
                <a:latin typeface="Arial" panose="020B0604020202020204" pitchFamily="34" charset="0"/>
                <a:cs typeface="Arial" panose="020B0604020202020204" pitchFamily="34" charset="0"/>
              </a:rPr>
              <a:t>Resolution-gap engineering — trained at 10 m Sentinel, scored at ~0.65 m Cartosat-2S/RISAT, with GSD as a conditioning input across 0.3–10 m.</a:t>
            </a:r>
            <a:endParaRPr sz="960" b="1" dirty="0">
              <a:solidFill>
                <a:srgbClr val="1B2430"/>
              </a:solidFill>
              <a:latin typeface="Arial"/>
            </a:endParaRP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50"/>
              </a:spcAft>
            </a:pPr>
            <a:r>
              <a:rPr sz="960" b="0" dirty="0">
                <a:solidFill>
                  <a:srgbClr val="1B2430"/>
                </a:solidFill>
                <a:latin typeface="Arial"/>
              </a:rPr>
              <a:t>•</a:t>
            </a:r>
            <a:r>
              <a:rPr lang="en-GB" sz="960" b="1" dirty="0">
                <a:latin typeface="Arial" panose="020B0604020202020204" pitchFamily="34" charset="0"/>
                <a:cs typeface="Arial" panose="020B0604020202020204" pitchFamily="34" charset="0"/>
              </a:rPr>
              <a:t> Abstention as a capability — an unmet precondition triggers a reasoned decline naming the failed check, not a wrong answer.</a:t>
            </a:r>
            <a:endParaRPr sz="960" b="1" dirty="0">
              <a:solidFill>
                <a:srgbClr val="1B2430"/>
              </a:solidFill>
              <a:latin typeface="Arial"/>
            </a:endParaRPr>
          </a:p>
        </p:txBody>
      </p:sp>
      <p:sp>
        <p:nvSpPr>
          <p:cNvPr id="15371" name="Rounded Rectangle 15370"/>
          <p:cNvSpPr/>
          <p:nvPr/>
        </p:nvSpPr>
        <p:spPr>
          <a:xfrm>
            <a:off x="6144768" y="2688336"/>
            <a:ext cx="5718017" cy="4572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9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Fully reproducible — every trace step is hash-logged and re-runnable by any reviewer</a:t>
            </a:r>
            <a:r>
              <a:rPr sz="900" b="0" dirty="0">
                <a:solidFill>
                  <a:srgbClr val="2C6B4F"/>
                </a:solidFill>
                <a:latin typeface="Arial"/>
              </a:rPr>
              <a:t>.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6144768" y="2688336"/>
            <a:ext cx="40640" cy="45720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329184" y="4809744"/>
            <a:ext cx="11533601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dirty="0">
                <a:solidFill>
                  <a:srgbClr val="123A5C"/>
                </a:solidFill>
                <a:latin typeface="Arial"/>
              </a:rPr>
              <a:t>Agentic query flow — each step emits its own trace line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329184" y="5024628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Pentagon 15374"/>
          <p:cNvSpPr/>
          <p:nvPr/>
        </p:nvSpPr>
        <p:spPr>
          <a:xfrm>
            <a:off x="329184" y="5157216"/>
            <a:ext cx="1733872" cy="658368"/>
          </a:xfrm>
          <a:prstGeom prst="homePlate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Arial"/>
              </a:rPr>
              <a:t>QUERY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BDD7EE"/>
                </a:solidFill>
                <a:latin typeface="Arial"/>
              </a:rPr>
              <a:t>text + image(s)</a:t>
            </a:r>
          </a:p>
        </p:txBody>
      </p:sp>
      <p:sp>
        <p:nvSpPr>
          <p:cNvPr id="15376" name="Chevron 15375"/>
          <p:cNvSpPr/>
          <p:nvPr/>
        </p:nvSpPr>
        <p:spPr>
          <a:xfrm>
            <a:off x="1962472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INTERPRET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intent + slots</a:t>
            </a:r>
          </a:p>
        </p:txBody>
      </p:sp>
      <p:sp>
        <p:nvSpPr>
          <p:cNvPr id="15377" name="Chevron 15376"/>
          <p:cNvSpPr/>
          <p:nvPr/>
        </p:nvSpPr>
        <p:spPr>
          <a:xfrm>
            <a:off x="3595760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CHECK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5-field gate</a:t>
            </a:r>
          </a:p>
        </p:txBody>
      </p:sp>
      <p:sp>
        <p:nvSpPr>
          <p:cNvPr id="15378" name="Chevron 15377"/>
          <p:cNvSpPr/>
          <p:nvPr/>
        </p:nvSpPr>
        <p:spPr>
          <a:xfrm>
            <a:off x="5229048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SELECT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registry filter</a:t>
            </a:r>
          </a:p>
        </p:txBody>
      </p:sp>
      <p:sp>
        <p:nvSpPr>
          <p:cNvPr id="15379" name="Chevron 15378"/>
          <p:cNvSpPr/>
          <p:nvPr/>
        </p:nvSpPr>
        <p:spPr>
          <a:xfrm>
            <a:off x="6862336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EXECUTE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permitted params</a:t>
            </a:r>
          </a:p>
        </p:txBody>
      </p:sp>
      <p:sp>
        <p:nvSpPr>
          <p:cNvPr id="15380" name="Chevron 15379"/>
          <p:cNvSpPr/>
          <p:nvPr/>
        </p:nvSpPr>
        <p:spPr>
          <a:xfrm>
            <a:off x="8495625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23A5C"/>
                </a:solidFill>
                <a:latin typeface="Arial"/>
              </a:rPr>
              <a:t>COMBINE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5A6673"/>
                </a:solidFill>
                <a:latin typeface="Arial"/>
              </a:rPr>
              <a:t>confidence + conflict</a:t>
            </a:r>
          </a:p>
        </p:txBody>
      </p:sp>
      <p:sp>
        <p:nvSpPr>
          <p:cNvPr id="15381" name="Chevron 15380"/>
          <p:cNvSpPr/>
          <p:nvPr/>
        </p:nvSpPr>
        <p:spPr>
          <a:xfrm>
            <a:off x="10128913" y="5157216"/>
            <a:ext cx="1733872" cy="658368"/>
          </a:xfrm>
          <a:prstGeom prst="chevron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Arial"/>
              </a:rPr>
              <a:t>EVIDENCE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>
                <a:solidFill>
                  <a:srgbClr val="BDD7EE"/>
                </a:solidFill>
                <a:latin typeface="Arial"/>
              </a:rPr>
              <a:t>overlay + trace + PDF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29184" y="6108192"/>
            <a:ext cx="11533601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760" b="0">
                <a:solidFill>
                  <a:srgbClr val="5A6673"/>
                </a:solidFill>
                <a:latin typeface="Arial"/>
              </a:rPr>
              <a:t>A failed gate short-circuits to a reasoned abstention — still a complete, scoreable trace.</a:t>
            </a:r>
          </a:p>
        </p:txBody>
      </p:sp>
      <p:pic>
        <p:nvPicPr>
          <p:cNvPr id="15383" name="Picture 15382" descr="change_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3218688"/>
            <a:ext cx="4279392" cy="1354237"/>
          </a:xfrm>
          <a:prstGeom prst="rect">
            <a:avLst/>
          </a:prstGeom>
          <a:ln w="9525">
            <a:solidFill>
              <a:srgbClr val="C2CEDB"/>
            </a:solidFill>
          </a:ln>
        </p:spPr>
      </p:pic>
      <p:sp>
        <p:nvSpPr>
          <p:cNvPr id="15384" name="TextBox 15383"/>
          <p:cNvSpPr txBox="1"/>
          <p:nvPr/>
        </p:nvSpPr>
        <p:spPr>
          <a:xfrm>
            <a:off x="6144768" y="4590288"/>
            <a:ext cx="5715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>
                <a:solidFill>
                  <a:srgbClr val="556272"/>
                </a:solidFill>
              </a:rPr>
              <a:t>Live output — Assam: real Sentinel-2 pair, 19.5% spectral change, 511 ha, 74% calibrated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algn="ctr" eaLnBrk="1" hangingPunct="1"/>
            <a:r>
              <a:rPr sz="3000" b="1">
                <a:solidFill>
                  <a:srgbClr val="123A5C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3401568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3401568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426464"/>
            <a:ext cx="3401568" cy="530352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Vision-language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RemoteCLIP / SigLIP · QLoRA (PEFT) · LLaVA-style projector + small LM head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2025395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Specialist models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ChangeFormer / BiT (change) · CLIPSeg + SAM (areal grounding) · open-vocab detector · dual-encoder Fusion-UNet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752344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7620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Geospatial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rasterio / GDAL · pyproj · refined-Lee speckle filter · phase-correlation co-registration · Sentinel-2 SCL cloud mask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3479291"/>
            <a:ext cx="3401568" cy="530352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7620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Backend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Python 3.12 · FastAPI · PyTorch · ONNX / int8 quantisation · LRU model registry · tile cache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4078224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Frontend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HTML/CSS/JS · three.js 3D globe · Leaflet + Esri World Imagery · canvas overlays · vendored assets for offline mode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4" y="4805172"/>
            <a:ext cx="3401568" cy="65836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3716" rIns="64008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Data &amp; eval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80" b="0">
                <a:solidFill>
                  <a:srgbClr val="1B2430"/>
                </a:solidFill>
                <a:latin typeface="Arial"/>
              </a:rPr>
              <a:t>BigEarthNet.txt · VRSBench · RSVQA LR/HR · CDVQA · LEVIR-CD / OSCD / SECOND · DOTA / DIOR / LoveDA (high-res holdout)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968496" y="1115568"/>
            <a:ext cx="7894289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968496" y="1319479"/>
            <a:ext cx="7894289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3968496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Single image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optical / MSI / SAR · GeoTIFF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624309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Cross-modal pair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co-registered optical + SAR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280123" y="1426464"/>
            <a:ext cx="2582661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23A5C"/>
                </a:solidFill>
                <a:latin typeface="Arial"/>
              </a:rPr>
              <a:t>Bi-temporal pair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A6673"/>
                </a:solidFill>
                <a:latin typeface="Arial"/>
              </a:rPr>
              <a:t>same footprint, two dates</a:t>
            </a:r>
          </a:p>
        </p:txBody>
      </p:sp>
      <p:sp>
        <p:nvSpPr>
          <p:cNvPr id="17423" name="Down Arrow 17422"/>
          <p:cNvSpPr/>
          <p:nvPr/>
        </p:nvSpPr>
        <p:spPr>
          <a:xfrm>
            <a:off x="7847060" y="192024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3968496" y="2103120"/>
            <a:ext cx="7894289" cy="512064"/>
          </a:xfrm>
          <a:prstGeom prst="roundRect">
            <a:avLst>
              <a:gd name="adj" fmla="val 8000"/>
            </a:avLst>
          </a:prstGeom>
          <a:solidFill>
            <a:srgbClr val="F6F9FB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23A5C"/>
                </a:solidFill>
                <a:latin typeface="Arial"/>
              </a:rPr>
              <a:t>STAGE 0 · Ingest, sensor abstraction, </a:t>
            </a:r>
            <a:r>
              <a:rPr sz="880" b="1" dirty="0" err="1">
                <a:solidFill>
                  <a:srgbClr val="123A5C"/>
                </a:solidFill>
                <a:latin typeface="Arial"/>
              </a:rPr>
              <a:t>normalisation</a:t>
            </a:r>
            <a:endParaRPr sz="880" b="1" dirty="0">
              <a:solidFill>
                <a:srgbClr val="123A5C"/>
              </a:solidFill>
              <a:latin typeface="Arial"/>
            </a:endParaRPr>
          </a:p>
          <a:p>
            <a:pPr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lang="en-IN" sz="72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sensor-profile registry → band map · speckle filter · cloud mask · tiling ▸ emits Tile{bands, </a:t>
            </a:r>
            <a:r>
              <a:rPr lang="en-IN" sz="72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gsd</a:t>
            </a:r>
            <a:r>
              <a:rPr lang="en-IN" sz="72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72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crs</a:t>
            </a:r>
            <a:r>
              <a:rPr lang="en-IN" sz="72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sz="72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968496" y="2103120"/>
            <a:ext cx="40640" cy="5120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Down Arrow 17425"/>
          <p:cNvSpPr/>
          <p:nvPr/>
        </p:nvSpPr>
        <p:spPr>
          <a:xfrm>
            <a:off x="7847060" y="265176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3968496" y="2834640"/>
            <a:ext cx="7894289" cy="56692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23A5C"/>
                </a:solidFill>
                <a:latin typeface="Arial"/>
              </a:rPr>
              <a:t>STAGE 1 · Agentic controller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 dirty="0">
                <a:solidFill>
                  <a:srgbClr val="1B2430"/>
                </a:solidFill>
                <a:latin typeface="Arial"/>
              </a:rPr>
              <a:t>6-way intent classifier (</a:t>
            </a:r>
            <a:r>
              <a:rPr sz="720" b="0" dirty="0" err="1">
                <a:solidFill>
                  <a:srgbClr val="1B2430"/>
                </a:solidFill>
                <a:latin typeface="Arial"/>
              </a:rPr>
              <a:t>MiniLM</a:t>
            </a:r>
            <a:r>
              <a:rPr sz="720" b="0" dirty="0">
                <a:solidFill>
                  <a:srgbClr val="1B2430"/>
                </a:solidFill>
                <a:latin typeface="Arial"/>
              </a:rPr>
              <a:t>, CPU) + slot extraction · five-field compatibility gate: number · modality · format · metadata · compatibility · declarative registry filter on task / modality / GSD range · parameter binding restricted to </a:t>
            </a:r>
            <a:r>
              <a:rPr sz="720" b="0" dirty="0" err="1">
                <a:solidFill>
                  <a:srgbClr val="1B2430"/>
                </a:solidFill>
                <a:latin typeface="Arial"/>
              </a:rPr>
              <a:t>permitted_params</a:t>
            </a:r>
            <a:endParaRPr sz="720" b="0" dirty="0">
              <a:solidFill>
                <a:srgbClr val="1B2430"/>
              </a:solidFill>
              <a:latin typeface="Arial"/>
            </a:endParaRP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700" b="0" dirty="0">
                <a:solidFill>
                  <a:srgbClr val="A85A16"/>
                </a:solidFill>
                <a:latin typeface="Arial"/>
              </a:rPr>
              <a:t>▸ emits  </a:t>
            </a:r>
            <a:r>
              <a:rPr sz="700" b="0" dirty="0" err="1">
                <a:solidFill>
                  <a:srgbClr val="A85A16"/>
                </a:solidFill>
                <a:latin typeface="Arial"/>
              </a:rPr>
              <a:t>ExecPlan</a:t>
            </a:r>
            <a:r>
              <a:rPr sz="700" b="0" dirty="0">
                <a:solidFill>
                  <a:srgbClr val="A85A16"/>
                </a:solidFill>
                <a:latin typeface="Arial"/>
              </a:rPr>
              <a:t>  —  gate failure → reasoned abstention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968496" y="2834640"/>
            <a:ext cx="40640" cy="566928"/>
          </a:xfrm>
          <a:prstGeom prst="rect">
            <a:avLst/>
          </a:prstGeom>
          <a:solidFill>
            <a:srgbClr val="0A5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Down Arrow 17428"/>
          <p:cNvSpPr/>
          <p:nvPr/>
        </p:nvSpPr>
        <p:spPr>
          <a:xfrm>
            <a:off x="7847060" y="3438144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3968496" y="3602736"/>
            <a:ext cx="789428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760" b="1">
                <a:solidFill>
                  <a:srgbClr val="123A5C"/>
                </a:solidFill>
                <a:latin typeface="Arial"/>
              </a:rPr>
              <a:t>STAGE 2 · SPECIALIST REGISTRY — shared adapted backbone, swappable ~50 MB task adapters, one uniform run() signature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968496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VQA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RSVQA-tuned  mandatory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293354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Describe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caption head  BigEarthNet.txt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618213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70C0"/>
                </a:solidFill>
                <a:latin typeface="Arial"/>
              </a:rPr>
              <a:t>Ground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CLIPSeg + SAM  geo-anchored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943072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C6B4F"/>
                </a:solidFill>
                <a:latin typeface="Arial"/>
              </a:rPr>
              <a:t>Change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ChangeFormer  mask + text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267931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C6B4F"/>
                </a:solidFill>
                <a:latin typeface="Arial"/>
              </a:rPr>
              <a:t>Change-QA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derived from  mask areas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592790" y="3803904"/>
            <a:ext cx="126999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85A16"/>
                </a:solidFill>
                <a:latin typeface="Arial"/>
              </a:rPr>
              <a:t>Fusion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optical+SAR  UNet decoder</a:t>
            </a:r>
          </a:p>
        </p:txBody>
      </p:sp>
      <p:sp>
        <p:nvSpPr>
          <p:cNvPr id="17437" name="Down Arrow 17436"/>
          <p:cNvSpPr/>
          <p:nvPr/>
        </p:nvSpPr>
        <p:spPr>
          <a:xfrm>
            <a:off x="7847060" y="4407408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3968496" y="4590288"/>
            <a:ext cx="7894289" cy="493776"/>
          </a:xfrm>
          <a:prstGeom prst="roundRect">
            <a:avLst>
              <a:gd name="adj" fmla="val 8000"/>
            </a:avLst>
          </a:prstGeom>
          <a:solidFill>
            <a:srgbClr val="F6F9FB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3 · Integration, confidence, abstention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per-task temperature scaling (0.8 means the same across heads) · cross-model consistency check · threshold → answer or decline · merge text + spatial evidence      ▸ emits  Answer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968496" y="4590288"/>
            <a:ext cx="40640" cy="493776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Down Arrow 17439"/>
          <p:cNvSpPr/>
          <p:nvPr/>
        </p:nvSpPr>
        <p:spPr>
          <a:xfrm>
            <a:off x="7847060" y="5120640"/>
            <a:ext cx="137160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3968496" y="5303520"/>
            <a:ext cx="7894289" cy="512064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3A5C"/>
                </a:solidFill>
                <a:latin typeface="Arial"/>
              </a:rPr>
              <a:t>STAGE 4–5 · Trace, evidence, serving</a:t>
            </a:r>
          </a:p>
          <a:p>
            <a:pPr algn="l">
              <a:lnSpc>
                <a:spcPct val="92000"/>
              </a:lnSpc>
              <a:spcBef>
                <a:spcPts val="150"/>
              </a:spcBef>
              <a:spcAft>
                <a:spcPts val="0"/>
              </a:spcAft>
            </a:pPr>
            <a:r>
              <a:rPr sz="720" b="0">
                <a:solidFill>
                  <a:srgbClr val="1B2430"/>
                </a:solidFill>
                <a:latin typeface="Arial"/>
              </a:rPr>
              <a:t>TraceStep{seq, intent, tool+version, weights_hash, params, input_hash, output, confidence, latency, gate_verdict} → one record renders the live view, the JSON and the PDF · FastAPI /upload /query /report · GUI · offline mode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968496" y="5303520"/>
            <a:ext cx="40640" cy="512064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3968496" y="5888736"/>
            <a:ext cx="7894289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0">
                <a:solidFill>
                  <a:srgbClr val="5A6673"/>
                </a:solidFill>
                <a:latin typeface="Arial"/>
              </a:rPr>
              <a:t>STAGE 6 · Evaluation harness runs alongside from day one — RSVQA accuracy · VRSBench CIDEr / IoU@0.5 · CDVQA by question type · change F1 · fusion per-class IoU · ECE · abstention precision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algn="ctr" eaLnBrk="1" hangingPunct="1"/>
            <a:r>
              <a:rPr sz="3000" b="1">
                <a:solidFill>
                  <a:srgbClr val="123A5C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4224528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4224528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426464"/>
            <a:ext cx="4224528" cy="1828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19" b="0">
                <a:solidFill>
                  <a:srgbClr val="1B2430"/>
                </a:solidFill>
                <a:latin typeface="Arial"/>
              </a:rPr>
              <a:t>•  </a:t>
            </a:r>
            <a:r>
              <a:rPr sz="919" b="1">
                <a:solidFill>
                  <a:srgbClr val="1B2430"/>
                </a:solidFill>
                <a:latin typeface="Arial"/>
              </a:rPr>
              <a:t>Prototype runs end to end today. FastAPI backend + browser GUI; all six intents execute on real Sentinel-2 and Sentinel-1 pixels across 9 sites; the router scores 5/5 on the representative queries; the PDF report renders from the trace record.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sz="919" b="0">
                <a:solidFill>
                  <a:srgbClr val="1B2430"/>
                </a:solidFill>
                <a:latin typeface="Arial"/>
              </a:rPr>
              <a:t>•  </a:t>
            </a:r>
            <a:r>
              <a:rPr sz="919" b="1">
                <a:solidFill>
                  <a:srgbClr val="1B2430"/>
                </a:solidFill>
                <a:latin typeface="Arial"/>
              </a:rPr>
              <a:t>Nothing needs inventing. Every component has published open weights or a reference implementation — the work is adaptation and orchestration.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sz="919" b="0">
                <a:solidFill>
                  <a:srgbClr val="1B2430"/>
                </a:solidFill>
                <a:latin typeface="Arial"/>
              </a:rPr>
              <a:t>•  </a:t>
            </a:r>
            <a:r>
              <a:rPr sz="919" b="1">
                <a:solidFill>
                  <a:srgbClr val="1B2430"/>
                </a:solidFill>
                <a:latin typeface="Arial"/>
              </a:rPr>
              <a:t>Fits one GPU. QLoRA 4-bit on a single card; ~50 MB adapters over one shared backbone instead of four full checkpoints.</a:t>
            </a:r>
          </a:p>
          <a:p>
            <a:pPr>
              <a:lnSpc>
                <a:spcPct val="95000"/>
              </a:lnSpc>
              <a:spcBef>
                <a:spcPts val="250"/>
              </a:spcBef>
              <a:spcAft>
                <a:spcPts val="150"/>
              </a:spcAft>
            </a:pPr>
            <a:r>
              <a:rPr sz="919" b="0">
                <a:solidFill>
                  <a:srgbClr val="1B2430"/>
                </a:solidFill>
                <a:latin typeface="Arial"/>
              </a:rPr>
              <a:t>•  </a:t>
            </a:r>
            <a:r>
              <a:rPr sz="919" b="1">
                <a:solidFill>
                  <a:srgbClr val="1B2430"/>
                </a:solidFill>
                <a:latin typeface="Arial"/>
              </a:rPr>
              <a:t>All data is open. BigEarthNet, VRSBench, RSVQA, CDVQA, LEVIR-CD, SECOND, DOTA, DIOR — no procurement and no licence blocker.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73168" y="1115568"/>
            <a:ext cx="7089617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Potential challenges and risks  ·  strategies for overcoming them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773168" y="1319479"/>
            <a:ext cx="70896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4773168" y="1426464"/>
          <a:ext cx="7089617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</a:p>
                  </a:txBody>
                  <a:tcPr marL="45720" marR="45720" marT="22860" marB="22860" anchor="ctr">
                    <a:solidFill>
                      <a:srgbClr val="12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Resolution + sensor gap.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Adaptation mandated at 10 m Sentinel; scoring on ~0.65 m Cartosat-2S + RISAT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Severe; invisible until final scoring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Multi-scale augmentation 0.3–10 m · GSD conditioning · high-res open data (DOTA, DIOR, Potsdam) · non-Sentinel holdout built before the models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Cartosat band structure.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PAN is 1 band, MX is 4 — neither RGB nor Sentinel-2's 12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Hard failure on evaluation day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Semantic band map in a sensor-profile registry; absent slots stay None, never zero-filled; no branching on dataset downstream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Bi-temporal misalignment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manufacturing phantom change at sub-metre scale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Silently wrong change answers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Phase-correlation alignment with the residual shift logged in pixels and gated at 2 px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Compute budget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for several specialists on demo hardware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Demo instability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Shared backbone + swappable adapters · LRU model registry · int8 / ONNX quantisation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BigEarthNet.txt link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in the PS is unverified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Blocks the mandatory adaptation clause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Verify first; fallback to BigEarthNet-MM with generated captions — the PS permits any open-source training data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1">
                          <a:solidFill>
                            <a:srgbClr val="1B2430"/>
                          </a:solidFill>
                          <a:latin typeface="Arial"/>
                        </a:rPr>
                        <a:t>Router confusion</a:t>
                      </a:r>
                      <a:r>
                        <a:rPr sz="720">
                          <a:solidFill>
                            <a:srgbClr val="1B2430"/>
                          </a:solidFill>
                          <a:latin typeface="Arial"/>
                        </a:rPr>
                        <a:t> between change and change-QA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Wrong output kind, scored wrong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20" b="0">
                          <a:solidFill>
                            <a:srgbClr val="1B2430"/>
                          </a:solidFill>
                          <a:latin typeface="Arial"/>
                        </a:rPr>
                        <a:t>Training data weighted at that boundary; confusion matrix published; output_kind asserted before execution</a:t>
                      </a:r>
                    </a:p>
                  </a:txBody>
                  <a:tcPr marL="45720" marR="45720" marT="22860" marB="2286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329184" y="4901184"/>
            <a:ext cx="11533601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>
                <a:solidFill>
                  <a:srgbClr val="123A5C"/>
                </a:solidFill>
                <a:latin typeface="Arial"/>
              </a:rPr>
              <a:t>Build order — Stage 0 first, because every specialist needs the canonical tile contract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9184" y="5099608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Pentagon 17417"/>
          <p:cNvSpPr/>
          <p:nvPr/>
        </p:nvSpPr>
        <p:spPr>
          <a:xfrm>
            <a:off x="329184" y="5248656"/>
            <a:ext cx="1733872" cy="603504"/>
          </a:xfrm>
          <a:prstGeom prst="homePlate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P0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BDD7EE"/>
                </a:solidFill>
                <a:latin typeface="Arial"/>
              </a:rPr>
              <a:t>sensor profiles · tile contract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1962472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P1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controller · gate · registry · trace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3595760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P2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QLoRA adaptation + GSD conditioning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5229048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P3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task heads → benchmarks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6862336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P4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calibration · conflict · abstain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8495625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E8F1F9"/>
          </a:solidFill>
          <a:ln w="762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23A5C"/>
                </a:solidFill>
                <a:latin typeface="Arial"/>
              </a:rPr>
              <a:t>P5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5A6673"/>
                </a:solidFill>
                <a:latin typeface="Arial"/>
              </a:rPr>
              <a:t>FastAPI · GUI · report · offline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10128913" y="5248656"/>
            <a:ext cx="1733872" cy="603504"/>
          </a:xfrm>
          <a:prstGeom prst="chevron">
            <a:avLst>
              <a:gd name="adj" fmla="val 22000"/>
            </a:avLst>
          </a:prstGeom>
          <a:solidFill>
            <a:srgbClr val="123A5C"/>
          </a:solidFill>
          <a:ln w="7620">
            <a:solidFill>
              <a:srgbClr val="12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3716" rIns="45720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P6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640" b="0">
                <a:solidFill>
                  <a:srgbClr val="BDD7EE"/>
                </a:solidFill>
                <a:latin typeface="Arial"/>
              </a:rPr>
              <a:t>ablations · final scorecard</a:t>
            </a:r>
          </a:p>
        </p:txBody>
      </p:sp>
      <p:pic>
        <p:nvPicPr>
          <p:cNvPr id="17425" name="Picture 17424" descr="demo_sample2_agent_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291840"/>
            <a:ext cx="4224528" cy="1570456"/>
          </a:xfrm>
          <a:prstGeom prst="rect">
            <a:avLst/>
          </a:prstGeom>
          <a:ln w="9525">
            <a:solidFill>
              <a:srgbClr val="C2CEDB"/>
            </a:solidFill>
          </a:ln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algn="ctr" eaLnBrk="1" hangingPunct="1"/>
            <a:r>
              <a:rPr sz="3000" b="1">
                <a:solidFill>
                  <a:srgbClr val="123A5C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C6B4F"/>
                </a:solidFill>
                <a:latin typeface="Arial"/>
              </a:rPr>
              <a:t>Agriculture &amp; water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crop-area change and water-body extent answered in a sentence, without a GIS analyst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133856"/>
            <a:ext cx="2821678" cy="3810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233158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A85A16"/>
                </a:solidFill>
                <a:latin typeface="Arial"/>
              </a:rPr>
              <a:t>Disaster response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SAR sees through cloud and at night — flood and damage extent when optical is useless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33158" y="1133856"/>
            <a:ext cx="2821678" cy="38100"/>
          </a:xfrm>
          <a:prstGeom prst="rect">
            <a:avLst/>
          </a:prstGeom>
          <a:solidFill>
            <a:srgbClr val="A8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137132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070C0"/>
                </a:solidFill>
                <a:latin typeface="Arial"/>
              </a:rPr>
              <a:t>Urban &amp; infrastructure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“has built-up area increased?” with the change mask and the areas behind the claim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137132" y="1133856"/>
            <a:ext cx="2821678" cy="38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9041107" y="1133856"/>
            <a:ext cx="2821678" cy="91440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C6B4F"/>
                </a:solidFill>
                <a:latin typeface="Arial"/>
              </a:rPr>
              <a:t>Forest &amp; environment</a:t>
            </a:r>
          </a:p>
          <a:p>
            <a:pPr algn="ctr">
              <a:lnSpc>
                <a:spcPct val="92000"/>
              </a:lnSpc>
              <a:spcBef>
                <a:spcPts val="250"/>
              </a:spcBef>
              <a:spcAft>
                <a:spcPts val="0"/>
              </a:spcAft>
            </a:pPr>
            <a:r>
              <a:rPr sz="790" b="0">
                <a:solidFill>
                  <a:srgbClr val="1B2430"/>
                </a:solidFill>
                <a:latin typeface="Arial"/>
              </a:rPr>
              <a:t>encroachment and land-cover shift tracked from open multitemporal imagery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9041107" y="1133856"/>
            <a:ext cx="2821678" cy="3810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329184" y="2267712"/>
            <a:ext cx="5650992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2471623"/>
            <a:ext cx="5650992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2578608"/>
            <a:ext cx="5650992" cy="3566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940" b="0">
                <a:solidFill>
                  <a:srgbClr val="1B2430"/>
                </a:solidFill>
                <a:latin typeface="Arial"/>
              </a:rPr>
              <a:t>•  </a:t>
            </a:r>
            <a:r>
              <a:rPr sz="940" b="1">
                <a:solidFill>
                  <a:srgbClr val="1B2430"/>
                </a:solidFill>
                <a:latin typeface="Arial"/>
              </a:rPr>
              <a:t>Non-expert decision makers</a:t>
            </a:r>
            <a:r>
              <a:rPr sz="940" b="0">
                <a:solidFill>
                  <a:srgbClr val="1B2430"/>
                </a:solidFill>
                <a:latin typeface="Arial"/>
              </a:rPr>
              <a:t> — district officers, panchayat and municipal staff, NGO field teams. Satellite evidence becomes a question in plain language instead of a GIS workflow, a model choice and a parameter set.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sz="940" b="0">
                <a:solidFill>
                  <a:srgbClr val="1B2430"/>
                </a:solidFill>
                <a:latin typeface="Arial"/>
              </a:rPr>
              <a:t>•  </a:t>
            </a:r>
            <a:r>
              <a:rPr sz="940" b="1">
                <a:solidFill>
                  <a:srgbClr val="1B2430"/>
                </a:solidFill>
                <a:latin typeface="Arial"/>
              </a:rPr>
              <a:t>ISRO / SAC and state remote-sensing centres</a:t>
            </a:r>
            <a:r>
              <a:rPr sz="940" b="0">
                <a:solidFill>
                  <a:srgbClr val="1B2430"/>
                </a:solidFill>
                <a:latin typeface="Arial"/>
              </a:rPr>
              <a:t> — the auditable trace (task, model, version, weights hash, parameters, confidence) makes an AI answer defensible in an operational report, which is what blocks adoption today.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sz="940" b="0">
                <a:solidFill>
                  <a:srgbClr val="1B2430"/>
                </a:solidFill>
                <a:latin typeface="Arial"/>
              </a:rPr>
              <a:t>•  </a:t>
            </a:r>
            <a:r>
              <a:rPr sz="940" b="1">
                <a:solidFill>
                  <a:srgbClr val="1B2430"/>
                </a:solidFill>
                <a:latin typeface="Arial"/>
              </a:rPr>
              <a:t>Analysts</a:t>
            </a:r>
            <a:r>
              <a:rPr sz="940" b="0">
                <a:solidFill>
                  <a:srgbClr val="1B2430"/>
                </a:solidFill>
                <a:latin typeface="Arial"/>
              </a:rPr>
              <a:t> — triage at query speed. Routine questions are answered and evidenced automatically; expert time goes to the cases the system declines, which it names explicitly.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sz="940" b="0">
                <a:solidFill>
                  <a:srgbClr val="1B2430"/>
                </a:solidFill>
                <a:latin typeface="Arial"/>
              </a:rPr>
              <a:t>•  </a:t>
            </a:r>
            <a:r>
              <a:rPr sz="940" b="1">
                <a:solidFill>
                  <a:srgbClr val="1B2430"/>
                </a:solidFill>
                <a:latin typeface="Arial"/>
              </a:rPr>
              <a:t>Researchers and students</a:t>
            </a:r>
            <a:r>
              <a:rPr sz="940" b="0">
                <a:solidFill>
                  <a:srgbClr val="1B2430"/>
                </a:solidFill>
                <a:latin typeface="Arial"/>
              </a:rPr>
              <a:t> — one registry, one contract, six tasks: a new specialist can be added behind the same run() signature without touching the controller.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150"/>
              </a:spcAft>
            </a:pPr>
            <a:r>
              <a:rPr sz="940" b="0">
                <a:solidFill>
                  <a:srgbClr val="1B2430"/>
                </a:solidFill>
                <a:latin typeface="Arial"/>
              </a:rPr>
              <a:t>•  </a:t>
            </a:r>
            <a:r>
              <a:rPr sz="940" b="1">
                <a:solidFill>
                  <a:srgbClr val="1B2430"/>
                </a:solidFill>
                <a:latin typeface="Arial"/>
              </a:rPr>
              <a:t>Reach:</a:t>
            </a:r>
            <a:r>
              <a:rPr sz="940" b="0">
                <a:solidFill>
                  <a:srgbClr val="1B2430"/>
                </a:solidFill>
                <a:latin typeface="Arial"/>
              </a:rPr>
              <a:t> browser-based, offline-capable, CPU-viable for the router and quantised heads — usable on district hardware and on an air-gapped laptop, not only on a GPU workstation.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8" y="2267712"/>
            <a:ext cx="5718017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144768" y="2471623"/>
            <a:ext cx="5718017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144768" y="25786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070C0"/>
                </a:solidFill>
                <a:latin typeface="Arial"/>
              </a:rPr>
              <a:t>Social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Democratises satellite intelligence — no GIS training needed. Faster disaster and flood assessment where cloud cover blocks optical imagery.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6144768" y="2578608"/>
            <a:ext cx="40640" cy="8229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6144768" y="34930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A85A16"/>
                </a:solidFill>
                <a:latin typeface="Arial"/>
              </a:rPr>
              <a:t>Economic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One shared adapted backbone replaces several siloed deployments. Analyst hours shift from routine extraction to judgement; no licence cost — open data, open weights.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144768" y="3493008"/>
            <a:ext cx="40640" cy="822960"/>
          </a:xfrm>
          <a:prstGeom prst="rect">
            <a:avLst/>
          </a:prstGeom>
          <a:solidFill>
            <a:srgbClr val="A85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6144768" y="44074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C6B4F"/>
                </a:solidFill>
                <a:latin typeface="Arial"/>
              </a:rPr>
              <a:t>Environmental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Continuous, low-cost monitoring of deforestation, water bodies, encroachment and land-cover change from freely available multitemporal imagery.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144768" y="4407408"/>
            <a:ext cx="40640" cy="822960"/>
          </a:xfrm>
          <a:prstGeom prst="rect">
            <a:avLst/>
          </a:prstGeom>
          <a:solidFill>
            <a:srgbClr val="2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6144768" y="5321808"/>
            <a:ext cx="5718017" cy="822960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3716" rIns="8229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23A5C"/>
                </a:solidFill>
                <a:latin typeface="Arial"/>
              </a:rPr>
              <a:t>Strategic / trust</a:t>
            </a:r>
          </a:p>
          <a:p>
            <a:pPr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1B2430"/>
                </a:solidFill>
                <a:latin typeface="Arial"/>
              </a:rPr>
              <a:t>Confidence is calibrated, conflicts between specialists are surfaced, and the system declines rather than guessing — abstention precision is a reported metric, not a disclaimer.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6144768" y="5321808"/>
            <a:ext cx="40640" cy="822960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7632" y="54864"/>
            <a:ext cx="8001000" cy="932688"/>
          </a:xfrm>
        </p:spPr>
        <p:txBody>
          <a:bodyPr wrap="square"/>
          <a:lstStyle/>
          <a:p>
            <a:pPr algn="ctr" eaLnBrk="1" hangingPunct="1"/>
            <a:r>
              <a:rPr sz="3000" b="1">
                <a:solidFill>
                  <a:srgbClr val="123A5C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>
              <a:lnSpc>
                <a:spcPct val="92000"/>
              </a:lnSpc>
            </a:pPr>
            <a:r>
              <a:rPr sz="1300" b="1">
                <a:solidFill>
                  <a:srgbClr val="123A5C"/>
                </a:solidFill>
                <a:latin typeface="Arial"/>
              </a:rPr>
              <a:t>SpectraX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15568"/>
            <a:ext cx="11533601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>
                <a:solidFill>
                  <a:srgbClr val="123A5C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319479"/>
            <a:ext cx="11533601" cy="20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Datasets · mandated &amp; training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E8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BigEarthNet.txt — S1 SAR + S2 MSI + text, primary adaptation corpus (PS link: arxiv.org/abs/2603.29630)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BigEarthNet-MM — bigearth.net (fallback if the .txt release is unavailable)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LEVIR-CD · OSCD · SECOND — change-detection training; SECOND underlies CDVQA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DOTA · DIOR / DIOR-RSVG · LoveDA · ISPRS Potsdam &amp; Vaihingen — high-resolution open data for the resolution-gap holdout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19437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2C6B4F"/>
          </a:solidFill>
          <a:ln w="9525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Benchmarks · prescribed evaluation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19437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E7F1EB"/>
          </a:solidFill>
          <a:ln w="9525">
            <a:solidFill>
              <a:srgbClr val="E7F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VRSBench — captioning, referring grounding and VQA on the same imagery (vrsbench.github.io)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RSVQA LR / HR — rsvqa.sylvainlobry.com, prescribed test splits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CDVQA — change-based VQA, scored by question type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ISRO / SAC evaluation set — pre-georeferenced, co-registered Cartosat-2S optical + RISAT SAR pairs; annotations undisclosed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Metrics: accuracy by question type · CIDEr / BLEU-4 / ROUGE-L · acc@IoU 0.5 · change F1 / IoU · per-class IoU · ECE · abstention precision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09691" y="1572768"/>
            <a:ext cx="3753093" cy="365760"/>
          </a:xfrm>
          <a:prstGeom prst="roundRect">
            <a:avLst>
              <a:gd name="adj" fmla="val 8000"/>
            </a:avLst>
          </a:prstGeom>
          <a:solidFill>
            <a:srgbClr val="A85A16"/>
          </a:solidFill>
          <a:ln w="9525">
            <a:solidFill>
              <a:srgbClr val="A8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rial"/>
              </a:rPr>
              <a:t>Models · methods · tooling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09691" y="1938528"/>
            <a:ext cx="3753093" cy="3035808"/>
          </a:xfrm>
          <a:prstGeom prst="roundRect">
            <a:avLst>
              <a:gd name="adj" fmla="val 8000"/>
            </a:avLst>
          </a:prstGeom>
          <a:solidFill>
            <a:srgbClr val="FCF1E4"/>
          </a:solidFill>
          <a:ln w="9525">
            <a:solidFill>
              <a:srgbClr val="FCF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lnSpc>
                <a:spcPct val="97000"/>
              </a:lnSpc>
              <a:spcBef>
                <a:spcPts val="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RemoteCLIP — RS vision-language pretraining (arXiv:2306.11029) · SigLIP (arXiv:2303.15343)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QLoRA — 4-bit adapter tuning (arXiv:2305.14314) · PEFT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LLaVA — visual instruction tuning (arXiv:2304.08485) · GeoChat (arXiv:2311.15826)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ChangeFormer (arXiv:2201.01293) · BiT (arXiv:2103.00208) · CLIPSeg (arXiv:2112.10003) · SAM (arXiv:2304.02643)</a:t>
            </a:r>
          </a:p>
          <a:p>
            <a:pPr>
              <a:lnSpc>
                <a:spcPct val="97000"/>
              </a:lnSpc>
              <a:spcBef>
                <a:spcPts val="450"/>
              </a:spcBef>
            </a:pPr>
            <a:r>
              <a:rPr sz="840">
                <a:solidFill>
                  <a:srgbClr val="1B2430"/>
                </a:solidFill>
                <a:latin typeface="Arial"/>
              </a:rPr>
              <a:t>•  Calibration: temperature scaling (arXiv:1706.04599) · refined-Lee speckle filter · rasterio / GDAL · FastAPI · PyTorch · ONNX Runtime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5138928"/>
            <a:ext cx="11533601" cy="621792"/>
          </a:xfrm>
          <a:prstGeom prst="roundRect">
            <a:avLst>
              <a:gd name="adj" fmla="val 8000"/>
            </a:avLst>
          </a:prstGeom>
          <a:solidFill>
            <a:srgbClr val="E8F1F9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3716" rIns="36576" bIns="13716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3A5C"/>
                </a:solidFill>
                <a:latin typeface="Arial"/>
              </a:rPr>
              <a:t>Prototype and design artefacts in this repository:  index.html (working browser GUI — 3D globe, satellite basemap, 6 feature benches, live trace)  ·  demo/server.py (stub API matching the planned /upload and /query contract)  ·  docs/SatQuery_AI_Pipeline_SIH26167.pdf (full seven-stage engineering specification)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5138928"/>
            <a:ext cx="40640" cy="621792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5870448"/>
            <a:ext cx="11533601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0">
                <a:solidFill>
                  <a:srgbClr val="5A6673"/>
                </a:solidFill>
                <a:latin typeface="Arial"/>
              </a:rPr>
              <a:t>Problem statement text retrieved from sih.gov.in/sih2026PS on 8 September 2026. Idea submission deadline: 30 September 2026. The BigEarthNet.txt link printed in the problem statement is unverified and has a documented fallback.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7503</TotalTime>
  <Words>2140</Words>
  <Application>Microsoft Office PowerPoint</Application>
  <PresentationFormat>Widescreen</PresentationFormat>
  <Paragraphs>201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SatQuery AI — an agentic vision-language assistant for multimodal remote-sensing queries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Sharanya</cp:lastModifiedBy>
  <cp:revision>150</cp:revision>
  <dcterms:created xsi:type="dcterms:W3CDTF">2013-12-12T18:46:50Z</dcterms:created>
  <dcterms:modified xsi:type="dcterms:W3CDTF">2026-09-08T13:45:39Z</dcterms:modified>
  <cp:category/>
</cp:coreProperties>
</file>