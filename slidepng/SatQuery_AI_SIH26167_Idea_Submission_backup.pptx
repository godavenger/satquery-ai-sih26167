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22960" y="658368"/>
            <a:ext cx="8229600" cy="822960"/>
          </a:xfrm>
        </p:spPr>
        <p:txBody>
          <a:bodyPr wrap="square"/>
          <a:lstStyle/>
          <a:p>
            <a:pPr algn="ctr"/>
            <a:r>
              <a:rPr sz="1900" b="1">
                <a:solidFill>
                  <a:srgbClr val="123A5C"/>
                </a:solidFill>
                <a:latin typeface="Times New Roman"/>
              </a:rPr>
              <a:t>IDEA SUBMISSION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38912" y="1755648"/>
            <a:ext cx="539496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3400">
                <a:solidFill>
                  <a:srgbClr val="123A5C"/>
                </a:solidFill>
                <a:latin typeface="Arial"/>
              </a:rPr>
              <a:t>SatQuery AI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b="0" sz="1250">
                <a:solidFill>
                  <a:srgbClr val="0A538E"/>
                </a:solidFill>
                <a:latin typeface="Arial"/>
              </a:rPr>
              <a:t>Ask Earth a question. Get an auditable answer.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2761488"/>
            <a:ext cx="4023360" cy="330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2971800"/>
            <a:ext cx="5440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150"/>
              </a:spcAft>
            </a:pPr>
            <a:r>
              <a:rPr b="1" sz="1019">
                <a:solidFill>
                  <a:srgbClr val="1B2430"/>
                </a:solidFill>
                <a:latin typeface="Arial"/>
              </a:rPr>
              <a:t>Problem Statement ID</a:t>
            </a:r>
            <a:r>
              <a:rPr b="0" sz="1019">
                <a:solidFill>
                  <a:srgbClr val="1B2430"/>
                </a:solidFill>
                <a:latin typeface="Arial"/>
              </a:rPr>
              <a:t> – SIH26167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3241548"/>
            <a:ext cx="5440680" cy="40233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150"/>
              </a:spcAft>
            </a:pPr>
            <a:r>
              <a:rPr b="1" sz="1019">
                <a:solidFill>
                  <a:srgbClr val="1B2430"/>
                </a:solidFill>
                <a:latin typeface="Arial"/>
              </a:rPr>
              <a:t>Problem Statement Title</a:t>
            </a:r>
            <a:r>
              <a:rPr b="0" sz="1019">
                <a:solidFill>
                  <a:srgbClr val="1B2430"/>
                </a:solidFill>
                <a:latin typeface="Arial"/>
              </a:rPr>
              <a:t> – SatQuery AI – An Interactive Vision-Language Assistant for Multimodal Remote Sensing Image Analysis through Text Queries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3694176"/>
            <a:ext cx="5440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150"/>
              </a:spcAft>
            </a:pPr>
            <a:r>
              <a:rPr b="1" sz="1019">
                <a:solidFill>
                  <a:srgbClr val="1B2430"/>
                </a:solidFill>
                <a:latin typeface="Arial"/>
              </a:rPr>
              <a:t>Theme</a:t>
            </a:r>
            <a:r>
              <a:rPr b="0" sz="1019">
                <a:solidFill>
                  <a:srgbClr val="1B2430"/>
                </a:solidFill>
                <a:latin typeface="Arial"/>
              </a:rPr>
              <a:t> – Space Technology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963924"/>
            <a:ext cx="5440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150"/>
              </a:spcAft>
            </a:pPr>
            <a:r>
              <a:rPr b="1" sz="1019">
                <a:solidFill>
                  <a:srgbClr val="1B2430"/>
                </a:solidFill>
                <a:latin typeface="Arial"/>
              </a:rPr>
              <a:t>PS Category</a:t>
            </a:r>
            <a:r>
              <a:rPr b="0" sz="1019">
                <a:solidFill>
                  <a:srgbClr val="1B2430"/>
                </a:solidFill>
                <a:latin typeface="Arial"/>
              </a:rPr>
              <a:t> – Software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4233672"/>
            <a:ext cx="5440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150"/>
              </a:spcAft>
            </a:pPr>
            <a:r>
              <a:rPr b="1" sz="1019">
                <a:solidFill>
                  <a:srgbClr val="1B2430"/>
                </a:solidFill>
                <a:latin typeface="Arial"/>
              </a:rPr>
              <a:t>Organisation</a:t>
            </a:r>
            <a:r>
              <a:rPr b="0" sz="1019">
                <a:solidFill>
                  <a:srgbClr val="1B2430"/>
                </a:solidFill>
                <a:latin typeface="Arial"/>
              </a:rPr>
              <a:t> – Indian Space Research Organisation (ISRO), Department of Space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" y="4503420"/>
            <a:ext cx="5440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150"/>
              </a:spcAft>
            </a:pPr>
            <a:r>
              <a:rPr b="1" sz="1019">
                <a:solidFill>
                  <a:srgbClr val="1B2430"/>
                </a:solidFill>
                <a:latin typeface="Arial"/>
              </a:rPr>
              <a:t>Team ID</a:t>
            </a:r>
            <a:r>
              <a:rPr b="0" sz="1019">
                <a:solidFill>
                  <a:srgbClr val="1B2430"/>
                </a:solidFill>
                <a:latin typeface="Arial"/>
              </a:rPr>
              <a:t> – &lt;your team ID&gt;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4773168"/>
            <a:ext cx="5440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150"/>
              </a:spcAft>
            </a:pPr>
            <a:r>
              <a:rPr b="1" sz="1019">
                <a:solidFill>
                  <a:srgbClr val="1B2430"/>
                </a:solidFill>
                <a:latin typeface="Arial"/>
              </a:rPr>
              <a:t>Team Name (Registered on portal)</a:t>
            </a:r>
            <a:r>
              <a:rPr b="0" sz="1019">
                <a:solidFill>
                  <a:srgbClr val="1B2430"/>
                </a:solidFill>
                <a:latin typeface="Arial"/>
              </a:rPr>
              <a:t> – SpectraX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eaLnBrk="1" hangingPunct="1" algn="ctr"/>
            <a:r>
              <a:rPr sz="2000" b="1">
                <a:solidFill>
                  <a:srgbClr val="123A5C"/>
                </a:solidFill>
                <a:latin typeface="Times New Roman"/>
              </a:rPr>
              <a:t>SatQuery AI — an agentic vision-language assistant for multimodal remote-sensing queries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29184" y="1115568"/>
            <a:ext cx="5650992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200">
                <a:solidFill>
                  <a:srgbClr val="123A5C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329184" y="1330452"/>
            <a:ext cx="5650992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29184" y="1408176"/>
            <a:ext cx="5650992" cy="1874519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1019">
                <a:solidFill>
                  <a:srgbClr val="1B2430"/>
                </a:solidFill>
                <a:latin typeface="Arial"/>
              </a:rPr>
              <a:t>A web app where a non-expert types a plain question over uploaded GeoTIFF imagery. An </a:t>
            </a:r>
            <a:r>
              <a:rPr b="1" sz="1019">
                <a:solidFill>
                  <a:srgbClr val="1B2430"/>
                </a:solidFill>
                <a:latin typeface="Arial"/>
              </a:rPr>
              <a:t>agentic controller</a:t>
            </a:r>
            <a:r>
              <a:rPr b="0" sz="1019">
                <a:solidFill>
                  <a:srgbClr val="1B2430"/>
                </a:solidFill>
                <a:latin typeface="Arial"/>
              </a:rPr>
              <a:t> — not a generic LLM — classifies the intent, validates the inputs, picks specialist models from a registry, runs them, and returns an evidence-grounded answer.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b="0" sz="960">
                <a:solidFill>
                  <a:srgbClr val="1B2430"/>
                </a:solidFill>
                <a:latin typeface="Arial"/>
              </a:rPr>
              <a:t>•  </a:t>
            </a:r>
            <a:r>
              <a:rPr b="1" sz="960">
                <a:solidFill>
                  <a:srgbClr val="1B2430"/>
                </a:solidFill>
                <a:latin typeface="Arial"/>
              </a:rPr>
              <a:t>Remote-sensing adaptation:</a:t>
            </a:r>
            <a:r>
              <a:rPr b="0" sz="960">
                <a:solidFill>
                  <a:srgbClr val="1B2430"/>
                </a:solidFill>
                <a:latin typeface="Arial"/>
              </a:rPr>
              <a:t> RemoteCLIP/SigLIP backbone QLoRA-tuned on BigEarthNet.txt (S1 SAR + S2 MSI + text); task adapters swapped at inference.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960">
                <a:solidFill>
                  <a:srgbClr val="1B2430"/>
                </a:solidFill>
                <a:latin typeface="Arial"/>
              </a:rPr>
              <a:t>•  </a:t>
            </a:r>
            <a:r>
              <a:rPr b="1" sz="960">
                <a:solidFill>
                  <a:srgbClr val="1B2430"/>
                </a:solidFill>
                <a:latin typeface="Arial"/>
              </a:rPr>
              <a:t>Six intents, one registry:</a:t>
            </a:r>
            <a:r>
              <a:rPr b="0" sz="960">
                <a:solidFill>
                  <a:srgbClr val="1B2430"/>
                </a:solidFill>
                <a:latin typeface="Arial"/>
              </a:rPr>
              <a:t> VQA · describe · ground · change · change-QA · optical–SAR fusion.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960">
                <a:solidFill>
                  <a:srgbClr val="1B2430"/>
                </a:solidFill>
                <a:latin typeface="Arial"/>
              </a:rPr>
              <a:t>•  </a:t>
            </a:r>
            <a:r>
              <a:rPr b="1" sz="960">
                <a:solidFill>
                  <a:srgbClr val="1B2430"/>
                </a:solidFill>
                <a:latin typeface="Arial"/>
              </a:rPr>
              <a:t>Evidence, not prose:</a:t>
            </a:r>
            <a:r>
              <a:rPr b="0" sz="960">
                <a:solidFill>
                  <a:srgbClr val="1B2430"/>
                </a:solidFill>
                <a:latin typeface="Arial"/>
              </a:rPr>
              <a:t> geo-anchored boxes and masks, change overlay, calibrated confidence, class areas, downloadable PDF report.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960">
                <a:solidFill>
                  <a:srgbClr val="1B2430"/>
                </a:solidFill>
                <a:latin typeface="Arial"/>
              </a:rPr>
              <a:t>•  </a:t>
            </a:r>
            <a:r>
              <a:rPr b="1" sz="960">
                <a:solidFill>
                  <a:srgbClr val="1B2430"/>
                </a:solidFill>
                <a:latin typeface="Arial"/>
              </a:rPr>
              <a:t>Working prototype today:</a:t>
            </a:r>
            <a:r>
              <a:rPr b="0" sz="960">
                <a:solidFill>
                  <a:srgbClr val="1B2430"/>
                </a:solidFill>
                <a:latin typeface="Arial"/>
              </a:rPr>
              <a:t> browser GUI with 3D globe, satellite basemap, 6 feature benches, live trace panel, rule-based router v1, offline fallback.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29184" y="3127248"/>
            <a:ext cx="5650992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200">
                <a:solidFill>
                  <a:srgbClr val="123A5C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329184" y="3342132"/>
            <a:ext cx="5650992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367" name="Table 15366"/>
          <p:cNvGraphicFramePr>
            <a:graphicFrameLocks noGrp="1"/>
          </p:cNvGraphicFramePr>
          <p:nvPr/>
        </p:nvGraphicFramePr>
        <p:xfrm>
          <a:off x="329184" y="3438144"/>
          <a:ext cx="565099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168"/>
                <a:gridCol w="3163823"/>
              </a:tblGrid>
              <a:tr h="237744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819">
                          <a:solidFill>
                            <a:srgbClr val="FFFFFF"/>
                          </a:solidFill>
                          <a:latin typeface="Arial"/>
                        </a:rPr>
                        <a:t>Barrier in the problem statement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819">
                          <a:solidFill>
                            <a:srgbClr val="FFFFFF"/>
                          </a:solidFill>
                          <a:latin typeface="Arial"/>
                        </a:rPr>
                        <a:t>SatQuery AI's answer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90">
                          <a:solidFill>
                            <a:srgbClr val="1B2430"/>
                          </a:solidFill>
                          <a:latin typeface="Arial"/>
                        </a:rPr>
                        <a:t>Single-task, siloed RS tools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90">
                          <a:solidFill>
                            <a:srgbClr val="1B2430"/>
                          </a:solidFill>
                          <a:latin typeface="Arial"/>
                        </a:rPr>
                        <a:t>One query bar; controller sequences the right specialists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90">
                          <a:solidFill>
                            <a:srgbClr val="1B2430"/>
                          </a:solidFill>
                          <a:latin typeface="Arial"/>
                        </a:rPr>
                        <a:t>Users must know GIS, sensors, parameters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90">
                          <a:solidFill>
                            <a:srgbClr val="1B2430"/>
                          </a:solidFill>
                          <a:latin typeface="Arial"/>
                        </a:rPr>
                        <a:t>Compatibility gate + parameter binding are automatic and logged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90">
                          <a:solidFill>
                            <a:srgbClr val="1B2430"/>
                          </a:solidFill>
                          <a:latin typeface="Arial"/>
                        </a:rPr>
                        <a:t>One optical image is often not enough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90">
                          <a:solidFill>
                            <a:srgbClr val="1B2430"/>
                          </a:solidFill>
                          <a:latin typeface="Arial"/>
                        </a:rPr>
                        <a:t>Bi-temporal and co-registered optical–SAR pairs are first-class inputs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90">
                          <a:solidFill>
                            <a:srgbClr val="1B2430"/>
                          </a:solidFill>
                          <a:latin typeface="Arial"/>
                        </a:rPr>
                        <a:t>Generic VLMs are unreliable on RS imagery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90">
                          <a:solidFill>
                            <a:srgbClr val="1B2430"/>
                          </a:solidFill>
                          <a:latin typeface="Arial"/>
                        </a:rPr>
                        <a:t>Domain-adapted backbone; a generic model is explicitly not used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5368" name="TextBox 15367"/>
          <p:cNvSpPr txBox="1"/>
          <p:nvPr/>
        </p:nvSpPr>
        <p:spPr>
          <a:xfrm>
            <a:off x="6144768" y="1115568"/>
            <a:ext cx="5718017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200">
                <a:solidFill>
                  <a:srgbClr val="123A5C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6144768" y="1330452"/>
            <a:ext cx="5718017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6144768" y="1408176"/>
            <a:ext cx="5718017" cy="1783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960">
                <a:solidFill>
                  <a:srgbClr val="1B2430"/>
                </a:solidFill>
                <a:latin typeface="Arial"/>
              </a:rPr>
              <a:t>•  </a:t>
            </a:r>
            <a:r>
              <a:rPr b="1" sz="960">
                <a:solidFill>
                  <a:srgbClr val="1B2430"/>
                </a:solidFill>
                <a:latin typeface="Arial"/>
              </a:rPr>
              <a:t>Cross-model conflict detection.</a:t>
            </a:r>
            <a:r>
              <a:rPr b="0" sz="960">
                <a:solidFill>
                  <a:srgbClr val="1B2430"/>
                </a:solidFill>
                <a:latin typeface="Arial"/>
              </a:rPr>
              <a:t> If grounding finds no water polygon while VQA says “water is present,” confidence drops and the conflict is surfaced — a behaviour no single monolithic VLM can have.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50"/>
              </a:spcAft>
            </a:pPr>
            <a:r>
              <a:rPr b="0" sz="960">
                <a:solidFill>
                  <a:srgbClr val="1B2430"/>
                </a:solidFill>
                <a:latin typeface="Arial"/>
              </a:rPr>
              <a:t>•  </a:t>
            </a:r>
            <a:r>
              <a:rPr b="1" sz="960">
                <a:solidFill>
                  <a:srgbClr val="1B2430"/>
                </a:solidFill>
                <a:latin typeface="Arial"/>
              </a:rPr>
              <a:t>Resolution-gap engineering.</a:t>
            </a:r>
            <a:r>
              <a:rPr b="0" sz="960">
                <a:solidFill>
                  <a:srgbClr val="1B2430"/>
                </a:solidFill>
                <a:latin typeface="Arial"/>
              </a:rPr>
              <a:t> Training is mandated at 10 m (Sentinel); final scoring is on ~0.65 m Cartosat-2S + RISAT. GSD is a conditioning input and multi-scale augmentation spans 0.3–10 m.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50"/>
              </a:spcAft>
            </a:pPr>
            <a:r>
              <a:rPr b="0" sz="960">
                <a:solidFill>
                  <a:srgbClr val="1B2430"/>
                </a:solidFill>
                <a:latin typeface="Arial"/>
              </a:rPr>
              <a:t>•  </a:t>
            </a:r>
            <a:r>
              <a:rPr b="1" sz="960">
                <a:solidFill>
                  <a:srgbClr val="1B2430"/>
                </a:solidFill>
                <a:latin typeface="Arial"/>
              </a:rPr>
              <a:t>Change-QA derived from the mask,</a:t>
            </a:r>
            <a:r>
              <a:rPr b="0" sz="960">
                <a:solidFill>
                  <a:srgbClr val="1B2430"/>
                </a:solidFill>
                <a:latin typeface="Arial"/>
              </a:rPr>
              <a:t> not generated: class areas at t1/t2, signed delta, dead-band for “unchanged.” Deterministic and auditable.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50"/>
              </a:spcAft>
            </a:pPr>
            <a:r>
              <a:rPr b="0" sz="960">
                <a:solidFill>
                  <a:srgbClr val="1B2430"/>
                </a:solidFill>
                <a:latin typeface="Arial"/>
              </a:rPr>
              <a:t>•  </a:t>
            </a:r>
            <a:r>
              <a:rPr b="1" sz="960">
                <a:solidFill>
                  <a:srgbClr val="1B2430"/>
                </a:solidFill>
                <a:latin typeface="Arial"/>
              </a:rPr>
              <a:t>Abstention as a capability.</a:t>
            </a:r>
            <a:r>
              <a:rPr b="0" sz="960">
                <a:solidFill>
                  <a:srgbClr val="1B2430"/>
                </a:solidFill>
                <a:latin typeface="Arial"/>
              </a:rPr>
              <a:t> Unmet precondition → reasoned decline naming the failed check, instead of a confident wrong answer.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50"/>
              </a:spcAft>
            </a:pPr>
            <a:r>
              <a:rPr b="0" sz="960">
                <a:solidFill>
                  <a:srgbClr val="1B2430"/>
                </a:solidFill>
                <a:latin typeface="Arial"/>
              </a:rPr>
              <a:t>•  </a:t>
            </a:r>
            <a:r>
              <a:rPr b="1" sz="960">
                <a:solidFill>
                  <a:srgbClr val="1B2430"/>
                </a:solidFill>
                <a:latin typeface="Arial"/>
              </a:rPr>
              <a:t>Trace-first design.</a:t>
            </a:r>
            <a:r>
              <a:rPr b="0" sz="960">
                <a:solidFill>
                  <a:srgbClr val="1B2430"/>
                </a:solidFill>
                <a:latin typeface="Arial"/>
              </a:rPr>
              <a:t> Only the observable trace is evaluated, so the trace record is the single source of truth behind the UI, the JSON and the PDF.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144768" y="3017520"/>
            <a:ext cx="5718017" cy="566928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6B4F"/>
                </a:solidFill>
                <a:latin typeface="Arial"/>
              </a:rPr>
              <a:t>Reproducibility built in: every trace step stores input hash + weights hash + permitted parameters, so any ISRO/SAC reviewer can re-run a result.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6144768" y="3017520"/>
            <a:ext cx="40640" cy="566928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329184" y="4754880"/>
            <a:ext cx="11533601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200">
                <a:solidFill>
                  <a:srgbClr val="123A5C"/>
                </a:solidFill>
                <a:latin typeface="Arial"/>
              </a:rPr>
              <a:t>Agentic query flow — each step emits its own trace line</a:t>
            </a:r>
          </a:p>
        </p:txBody>
      </p:sp>
      <p:sp>
        <p:nvSpPr>
          <p:cNvPr id="15374" name="Rectangle 15373"/>
          <p:cNvSpPr/>
          <p:nvPr/>
        </p:nvSpPr>
        <p:spPr>
          <a:xfrm>
            <a:off x="329184" y="4969764"/>
            <a:ext cx="11533601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Pentagon 15374"/>
          <p:cNvSpPr/>
          <p:nvPr/>
        </p:nvSpPr>
        <p:spPr>
          <a:xfrm>
            <a:off x="329184" y="5102352"/>
            <a:ext cx="1733872" cy="658368"/>
          </a:xfrm>
          <a:prstGeom prst="homePlate">
            <a:avLst>
              <a:gd name="adj" fmla="val 22000"/>
            </a:avLst>
          </a:prstGeom>
          <a:solidFill>
            <a:srgbClr val="123A5C"/>
          </a:solidFill>
          <a:ln w="7620">
            <a:solidFill>
              <a:srgbClr val="12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Arial"/>
              </a:rPr>
              <a:t>QUERY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BDD7EE"/>
                </a:solidFill>
                <a:latin typeface="Arial"/>
              </a:rPr>
              <a:t>text + image(s)</a:t>
            </a:r>
          </a:p>
        </p:txBody>
      </p:sp>
      <p:sp>
        <p:nvSpPr>
          <p:cNvPr id="15376" name="Chevron 15375"/>
          <p:cNvSpPr/>
          <p:nvPr/>
        </p:nvSpPr>
        <p:spPr>
          <a:xfrm>
            <a:off x="1962472" y="5102352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INTERPRET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intent + slots</a:t>
            </a:r>
          </a:p>
        </p:txBody>
      </p:sp>
      <p:sp>
        <p:nvSpPr>
          <p:cNvPr id="15377" name="Chevron 15376"/>
          <p:cNvSpPr/>
          <p:nvPr/>
        </p:nvSpPr>
        <p:spPr>
          <a:xfrm>
            <a:off x="3595760" y="5102352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CHECK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5-field gate</a:t>
            </a:r>
          </a:p>
        </p:txBody>
      </p:sp>
      <p:sp>
        <p:nvSpPr>
          <p:cNvPr id="15378" name="Chevron 15377"/>
          <p:cNvSpPr/>
          <p:nvPr/>
        </p:nvSpPr>
        <p:spPr>
          <a:xfrm>
            <a:off x="5229048" y="5102352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SELECT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registry filter</a:t>
            </a:r>
          </a:p>
        </p:txBody>
      </p:sp>
      <p:sp>
        <p:nvSpPr>
          <p:cNvPr id="15379" name="Chevron 15378"/>
          <p:cNvSpPr/>
          <p:nvPr/>
        </p:nvSpPr>
        <p:spPr>
          <a:xfrm>
            <a:off x="6862336" y="5102352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EXECUTE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permitted params</a:t>
            </a:r>
          </a:p>
        </p:txBody>
      </p:sp>
      <p:sp>
        <p:nvSpPr>
          <p:cNvPr id="15380" name="Chevron 15379"/>
          <p:cNvSpPr/>
          <p:nvPr/>
        </p:nvSpPr>
        <p:spPr>
          <a:xfrm>
            <a:off x="8495625" y="5102352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COMBINE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confidence + conflict</a:t>
            </a:r>
          </a:p>
        </p:txBody>
      </p:sp>
      <p:sp>
        <p:nvSpPr>
          <p:cNvPr id="15381" name="Chevron 15380"/>
          <p:cNvSpPr/>
          <p:nvPr/>
        </p:nvSpPr>
        <p:spPr>
          <a:xfrm>
            <a:off x="10128913" y="5102352"/>
            <a:ext cx="1733872" cy="658368"/>
          </a:xfrm>
          <a:prstGeom prst="chevron">
            <a:avLst>
              <a:gd name="adj" fmla="val 22000"/>
            </a:avLst>
          </a:prstGeom>
          <a:solidFill>
            <a:srgbClr val="123A5C"/>
          </a:solidFill>
          <a:ln w="7620">
            <a:solidFill>
              <a:srgbClr val="12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Arial"/>
              </a:rPr>
              <a:t>EVIDENCE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BDD7EE"/>
                </a:solidFill>
                <a:latin typeface="Arial"/>
              </a:rPr>
              <a:t>overlay + trace + PDF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329184" y="6053328"/>
            <a:ext cx="11533601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760">
                <a:solidFill>
                  <a:srgbClr val="5A6673"/>
                </a:solidFill>
                <a:latin typeface="Arial"/>
              </a:rPr>
              <a:t>A failed gate short-circuits to a reasoned abstention — still a complete, scoreable trace.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eaLnBrk="1" hangingPunct="1" algn="ctr"/>
            <a:r>
              <a:rPr sz="3000" b="1">
                <a:solidFill>
                  <a:srgbClr val="123A5C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15568"/>
            <a:ext cx="3401568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100">
                <a:solidFill>
                  <a:srgbClr val="123A5C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319479"/>
            <a:ext cx="3401568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426464"/>
            <a:ext cx="3401568" cy="530352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Vision-language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RemoteCLIP / SigLIP · QLoRA (PEFT) · LLaVA-style projector + small LM head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9184" y="2025395"/>
            <a:ext cx="3401568" cy="65836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Specialist models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ChangeFormer / BiT (change) · CLIPSeg + SAM (areal grounding) · open-vocab detector · dual-encoder Fusion-UNet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2752344"/>
            <a:ext cx="3401568" cy="658368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7620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Geospatial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rasterio / GDAL · pyproj · refined-Lee speckle filter · phase-correlation co-registration · Sentinel-2 SCL cloud mask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9184" y="3479291"/>
            <a:ext cx="3401568" cy="530352"/>
          </a:xfrm>
          <a:prstGeom prst="roundRect">
            <a:avLst>
              <a:gd name="adj" fmla="val 8000"/>
            </a:avLst>
          </a:prstGeom>
          <a:solidFill>
            <a:srgbClr val="FCF1E4"/>
          </a:solidFill>
          <a:ln w="7620">
            <a:solidFill>
              <a:srgbClr val="FCF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Backend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Python 3.12 · FastAPI · PyTorch · ONNX / int8 quantisation · LRU model registry · tile cache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4078224"/>
            <a:ext cx="3401568" cy="65836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Frontend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HTML/CSS/JS · three.js 3D globe · Leaflet + Esri World Imagery · canvas overlays · vendored assets for offline mode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9184" y="4805172"/>
            <a:ext cx="3401568" cy="65836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Data &amp; eval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BigEarthNet.txt · VRSBench · RSVQA LR/HR · CDVQA · LEVIR-CD / OSCD / SECOND · DOTA / DIOR / LoveDA (high-res holdout)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968496" y="1115568"/>
            <a:ext cx="7894289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100">
                <a:solidFill>
                  <a:srgbClr val="123A5C"/>
                </a:solidFill>
                <a:latin typeface="Arial"/>
              </a:rPr>
              <a:t>Methodology and process for implementation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968496" y="1319479"/>
            <a:ext cx="7894289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3968496" y="1426464"/>
            <a:ext cx="2582661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23A5C"/>
                </a:solidFill>
                <a:latin typeface="Arial"/>
              </a:rPr>
              <a:t>Single image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5A6673"/>
                </a:solidFill>
                <a:latin typeface="Arial"/>
              </a:rPr>
              <a:t>optical / MSI / SAR · GeoTIFF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624309" y="1426464"/>
            <a:ext cx="2582661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23A5C"/>
                </a:solidFill>
                <a:latin typeface="Arial"/>
              </a:rPr>
              <a:t>Cross-modal pair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5A6673"/>
                </a:solidFill>
                <a:latin typeface="Arial"/>
              </a:rPr>
              <a:t>co-registered optical + SAR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280123" y="1426464"/>
            <a:ext cx="2582661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23A5C"/>
                </a:solidFill>
                <a:latin typeface="Arial"/>
              </a:rPr>
              <a:t>Bi-temporal pair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5A6673"/>
                </a:solidFill>
                <a:latin typeface="Arial"/>
              </a:rPr>
              <a:t>same footprint, two dates</a:t>
            </a:r>
          </a:p>
        </p:txBody>
      </p:sp>
      <p:sp>
        <p:nvSpPr>
          <p:cNvPr id="17423" name="Down Arrow 17422"/>
          <p:cNvSpPr/>
          <p:nvPr/>
        </p:nvSpPr>
        <p:spPr>
          <a:xfrm>
            <a:off x="7847060" y="1920240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3968496" y="2103120"/>
            <a:ext cx="7894289" cy="512064"/>
          </a:xfrm>
          <a:prstGeom prst="roundRect">
            <a:avLst>
              <a:gd name="adj" fmla="val 8000"/>
            </a:avLst>
          </a:prstGeom>
          <a:solidFill>
            <a:srgbClr val="F6F9FB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STAGE 0 · Ingest, sensor abstraction, normalisation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20" b="0">
                <a:solidFill>
                  <a:srgbClr val="1B2430"/>
                </a:solidFill>
                <a:latin typeface="Arial"/>
              </a:rPr>
              <a:t>sensor-profile registry → semantic band map · SAR linear→dB + speckle · optical percentile stretch (display only) · QA/cloud mask · 512px tiles · cache      ▸ emits  Tile{bands, gsd, crs, transform, ts, qa}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3968496" y="2103120"/>
            <a:ext cx="40640" cy="5120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Down Arrow 17425"/>
          <p:cNvSpPr/>
          <p:nvPr/>
        </p:nvSpPr>
        <p:spPr>
          <a:xfrm>
            <a:off x="7847060" y="2651760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3968496" y="2834640"/>
            <a:ext cx="7894289" cy="56692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STAGE 1 · Agentic controller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20" b="0">
                <a:solidFill>
                  <a:srgbClr val="1B2430"/>
                </a:solidFill>
                <a:latin typeface="Arial"/>
              </a:rPr>
              <a:t>6-way intent classifier (MiniLM, CPU) + slot extraction · five-field compatibility gate: number · modality · format · metadata · compatibility · declarative registry filter on task / modality / GSD range · parameter binding restricted to permitted_params</a:t>
            </a:r>
          </a:p>
          <a:p>
            <a:pPr algn="l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700" b="0">
                <a:solidFill>
                  <a:srgbClr val="A85A16"/>
                </a:solidFill>
                <a:latin typeface="Arial"/>
              </a:rPr>
              <a:t>▸ emits  ExecPlan  —  gate failure → reasoned abstention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968496" y="2834640"/>
            <a:ext cx="40640" cy="566928"/>
          </a:xfrm>
          <a:prstGeom prst="rect">
            <a:avLst/>
          </a:prstGeom>
          <a:solidFill>
            <a:srgbClr val="0A5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Down Arrow 17428"/>
          <p:cNvSpPr/>
          <p:nvPr/>
        </p:nvSpPr>
        <p:spPr>
          <a:xfrm>
            <a:off x="7847060" y="3438144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3968496" y="3602736"/>
            <a:ext cx="7894289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760">
                <a:solidFill>
                  <a:srgbClr val="123A5C"/>
                </a:solidFill>
                <a:latin typeface="Arial"/>
              </a:rPr>
              <a:t>STAGE 2 · SPECIALIST REGISTRY — shared adapted backbone, swappable ~50 MB task adapters, one uniform run() signature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968496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VQA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RSVQA-tuned  mandatory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293354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Describe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caption head  BigEarthNet.txt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618213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Ground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CLIPSeg + SAM  geo-anchored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943072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C6B4F"/>
                </a:solidFill>
                <a:latin typeface="Arial"/>
              </a:rPr>
              <a:t>Change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ChangeFormer  mask + text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267931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C6B4F"/>
                </a:solidFill>
                <a:latin typeface="Arial"/>
              </a:rPr>
              <a:t>Change-QA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derived from  mask areas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592790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85A16"/>
                </a:solidFill>
                <a:latin typeface="Arial"/>
              </a:rPr>
              <a:t>Fusion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optical+SAR  UNet decoder</a:t>
            </a:r>
          </a:p>
        </p:txBody>
      </p:sp>
      <p:sp>
        <p:nvSpPr>
          <p:cNvPr id="17437" name="Down Arrow 17436"/>
          <p:cNvSpPr/>
          <p:nvPr/>
        </p:nvSpPr>
        <p:spPr>
          <a:xfrm>
            <a:off x="7847060" y="4407408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3968496" y="4590288"/>
            <a:ext cx="7894289" cy="493776"/>
          </a:xfrm>
          <a:prstGeom prst="roundRect">
            <a:avLst>
              <a:gd name="adj" fmla="val 8000"/>
            </a:avLst>
          </a:prstGeom>
          <a:solidFill>
            <a:srgbClr val="F6F9FB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STAGE 3 · Integration, confidence, abstention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20" b="0">
                <a:solidFill>
                  <a:srgbClr val="1B2430"/>
                </a:solidFill>
                <a:latin typeface="Arial"/>
              </a:rPr>
              <a:t>per-task temperature scaling (0.8 means the same across heads) · cross-model consistency check · threshold → answer or decline · merge text + spatial evidence      ▸ emits  Answer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3968496" y="4590288"/>
            <a:ext cx="40640" cy="493776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Down Arrow 17439"/>
          <p:cNvSpPr/>
          <p:nvPr/>
        </p:nvSpPr>
        <p:spPr>
          <a:xfrm>
            <a:off x="7847060" y="5120640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3968496" y="5303520"/>
            <a:ext cx="7894289" cy="512064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STAGE 4–5 · Trace, evidence, serving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20" b="0">
                <a:solidFill>
                  <a:srgbClr val="1B2430"/>
                </a:solidFill>
                <a:latin typeface="Arial"/>
              </a:rPr>
              <a:t>TraceStep{seq, intent, tool+version, weights_hash, params, input_hash, output, confidence, latency, gate_verdict} → one record renders the live view, the JSON and the PDF · FastAPI /upload /query /report · GUI · offline mode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3968496" y="5303520"/>
            <a:ext cx="40640" cy="512064"/>
          </a:xfrm>
          <a:prstGeom prst="rect">
            <a:avLst/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3968496" y="5888736"/>
            <a:ext cx="7894289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740">
                <a:solidFill>
                  <a:srgbClr val="5A6673"/>
                </a:solidFill>
                <a:latin typeface="Arial"/>
              </a:rPr>
              <a:t>STAGE 6 · Evaluation harness runs alongside from day one — RSVQA accuracy · VRSBench CIDEr / IoU@0.5 · CDVQA by question type · change F1 · fusion per-class IoU · ECE · abstention precision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eaLnBrk="1" hangingPunct="1" algn="ctr"/>
            <a:r>
              <a:rPr sz="3000" b="1">
                <a:solidFill>
                  <a:srgbClr val="123A5C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15568"/>
            <a:ext cx="4224528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100">
                <a:solidFill>
                  <a:srgbClr val="123A5C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319479"/>
            <a:ext cx="4224528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1426464"/>
            <a:ext cx="4224528" cy="3017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919">
                <a:solidFill>
                  <a:srgbClr val="1B2430"/>
                </a:solidFill>
                <a:latin typeface="Arial"/>
              </a:rPr>
              <a:t>•  </a:t>
            </a:r>
            <a:r>
              <a:rPr b="1" sz="919">
                <a:solidFill>
                  <a:srgbClr val="1B2430"/>
                </a:solidFill>
                <a:latin typeface="Arial"/>
              </a:rPr>
              <a:t>Prototype already runs.</a:t>
            </a:r>
            <a:r>
              <a:rPr b="0" sz="919">
                <a:solidFill>
                  <a:srgbClr val="1B2430"/>
                </a:solidFill>
                <a:latin typeface="Arial"/>
              </a:rPr>
              <a:t> Browser GUI + stub server, 6 feature benches, live 6-step trace, 5 representative queries wired end to end — the response contract already matches the planned FastAPI backend.</a:t>
            </a:r>
          </a:p>
          <a:p>
            <a:pPr>
              <a:lnSpc>
                <a:spcPct val="95000"/>
              </a:lnSpc>
              <a:spcBef>
                <a:spcPts val="250"/>
              </a:spcBef>
              <a:spcAft>
                <a:spcPts val="150"/>
              </a:spcAft>
            </a:pPr>
            <a:r>
              <a:rPr b="0" sz="919">
                <a:solidFill>
                  <a:srgbClr val="1B2430"/>
                </a:solidFill>
                <a:latin typeface="Arial"/>
              </a:rPr>
              <a:t>•  </a:t>
            </a:r>
            <a:r>
              <a:rPr b="1" sz="919">
                <a:solidFill>
                  <a:srgbClr val="1B2430"/>
                </a:solidFill>
                <a:latin typeface="Arial"/>
              </a:rPr>
              <a:t>Nothing needs inventing.</a:t>
            </a:r>
            <a:r>
              <a:rPr b="0" sz="919">
                <a:solidFill>
                  <a:srgbClr val="1B2430"/>
                </a:solidFill>
                <a:latin typeface="Arial"/>
              </a:rPr>
              <a:t> Every component has published open weights or a reference implementation; the work is adaptation and orchestration, not new architecture.</a:t>
            </a:r>
          </a:p>
          <a:p>
            <a:pPr>
              <a:lnSpc>
                <a:spcPct val="95000"/>
              </a:lnSpc>
              <a:spcBef>
                <a:spcPts val="250"/>
              </a:spcBef>
              <a:spcAft>
                <a:spcPts val="150"/>
              </a:spcAft>
            </a:pPr>
            <a:r>
              <a:rPr b="0" sz="919">
                <a:solidFill>
                  <a:srgbClr val="1B2430"/>
                </a:solidFill>
                <a:latin typeface="Arial"/>
              </a:rPr>
              <a:t>•  </a:t>
            </a:r>
            <a:r>
              <a:rPr b="1" sz="919">
                <a:solidFill>
                  <a:srgbClr val="1B2430"/>
                </a:solidFill>
                <a:latin typeface="Arial"/>
              </a:rPr>
              <a:t>Fits one GPU.</a:t>
            </a:r>
            <a:r>
              <a:rPr b="0" sz="919">
                <a:solidFill>
                  <a:srgbClr val="1B2430"/>
                </a:solidFill>
                <a:latin typeface="Arial"/>
              </a:rPr>
              <a:t> QLoRA 4-bit on a single 16 GB card; four ~50 MB adapters over one shared backbone instead of four full checkpoints.</a:t>
            </a:r>
          </a:p>
          <a:p>
            <a:pPr>
              <a:lnSpc>
                <a:spcPct val="95000"/>
              </a:lnSpc>
              <a:spcBef>
                <a:spcPts val="250"/>
              </a:spcBef>
              <a:spcAft>
                <a:spcPts val="150"/>
              </a:spcAft>
            </a:pPr>
            <a:r>
              <a:rPr b="0" sz="919">
                <a:solidFill>
                  <a:srgbClr val="1B2430"/>
                </a:solidFill>
                <a:latin typeface="Arial"/>
              </a:rPr>
              <a:t>•  </a:t>
            </a:r>
            <a:r>
              <a:rPr b="1" sz="919">
                <a:solidFill>
                  <a:srgbClr val="1B2430"/>
                </a:solidFill>
                <a:latin typeface="Arial"/>
              </a:rPr>
              <a:t>All data is open.</a:t>
            </a:r>
            <a:r>
              <a:rPr b="0" sz="919">
                <a:solidFill>
                  <a:srgbClr val="1B2430"/>
                </a:solidFill>
                <a:latin typeface="Arial"/>
              </a:rPr>
              <a:t> BigEarthNet.txt, VRSBench, RSVQA, CDVQA, LEVIR-CD, OSCD, SECOND, DOTA, DIOR — no procurement, no licence blocker.</a:t>
            </a:r>
          </a:p>
          <a:p>
            <a:pPr>
              <a:lnSpc>
                <a:spcPct val="95000"/>
              </a:lnSpc>
              <a:spcBef>
                <a:spcPts val="250"/>
              </a:spcBef>
              <a:spcAft>
                <a:spcPts val="150"/>
              </a:spcAft>
            </a:pPr>
            <a:r>
              <a:rPr b="0" sz="919">
                <a:solidFill>
                  <a:srgbClr val="1B2430"/>
                </a:solidFill>
                <a:latin typeface="Arial"/>
              </a:rPr>
              <a:t>•  </a:t>
            </a:r>
            <a:r>
              <a:rPr b="1" sz="919">
                <a:solidFill>
                  <a:srgbClr val="1B2430"/>
                </a:solidFill>
                <a:latin typeface="Arial"/>
              </a:rPr>
              <a:t>Change-QA costs nothing extra.</a:t>
            </a:r>
            <a:r>
              <a:rPr b="0" sz="919">
                <a:solidFill>
                  <a:srgbClr val="1B2430"/>
                </a:solidFill>
                <a:latin typeface="Arial"/>
              </a:rPr>
              <a:t> Derived arithmetically from the change mask, so one trained model covers two mandatory capabilities.</a:t>
            </a:r>
          </a:p>
          <a:p>
            <a:pPr>
              <a:lnSpc>
                <a:spcPct val="95000"/>
              </a:lnSpc>
              <a:spcBef>
                <a:spcPts val="250"/>
              </a:spcBef>
              <a:spcAft>
                <a:spcPts val="150"/>
              </a:spcAft>
            </a:pPr>
            <a:r>
              <a:rPr b="0" sz="919">
                <a:solidFill>
                  <a:srgbClr val="1B2430"/>
                </a:solidFill>
                <a:latin typeface="Arial"/>
              </a:rPr>
              <a:t>•  </a:t>
            </a:r>
            <a:r>
              <a:rPr b="1" sz="919">
                <a:solidFill>
                  <a:srgbClr val="1B2430"/>
                </a:solidFill>
                <a:latin typeface="Arial"/>
              </a:rPr>
              <a:t>Degrades instead of failing.</a:t>
            </a:r>
            <a:r>
              <a:rPr b="0" sz="919">
                <a:solidFill>
                  <a:srgbClr val="1B2430"/>
                </a:solidFill>
                <a:latin typeface="Arial"/>
              </a:rPr>
              <a:t> Stub-to-checkpoint swap behind a fixed contract, LRU residency, int8/ONNX and a seeded tile cache for offline demo.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773168" y="1115568"/>
            <a:ext cx="7089617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100">
                <a:solidFill>
                  <a:srgbClr val="123A5C"/>
                </a:solidFill>
                <a:latin typeface="Arial"/>
              </a:rPr>
              <a:t>Potential challenges and risks  ·  strategies for overcoming them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4773168" y="1319479"/>
            <a:ext cx="7089617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4773168" y="1426464"/>
          <a:ext cx="7089617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078992"/>
                <a:gridCol w="4529297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Arial"/>
                        </a:rPr>
                        <a:t>Mitigation strategy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720">
                          <a:solidFill>
                            <a:srgbClr val="1B2430"/>
                          </a:solidFill>
                          <a:latin typeface="Arial"/>
                        </a:rPr>
                        <a:t>Resolution + sensor gap.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Adaptation mandated at 10 m Sentinel; scoring on ~0.65 m Cartosat-2S + RISAT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Severe; invisible until final scoring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Multi-scale augmentation 0.3–10 m · GSD conditioning · high-res open data (DOTA, DIOR, Potsdam) · non-Sentinel holdout built before the models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720">
                          <a:solidFill>
                            <a:srgbClr val="1B2430"/>
                          </a:solidFill>
                          <a:latin typeface="Arial"/>
                        </a:rPr>
                        <a:t>Cartosat band structure.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PAN is 1 band, MX is 4 — neither RGB nor Sentinel-2's 12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Hard failure on evaluation day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Semantic band map in a sensor-profile registry; absent slots stay None, never zero-filled; no branching on dataset downstream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720">
                          <a:solidFill>
                            <a:srgbClr val="1B2430"/>
                          </a:solidFill>
                          <a:latin typeface="Arial"/>
                        </a:rPr>
                        <a:t>Bi-temporal misalignment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manufacturing phantom change at sub-metre scale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Silently wrong change answers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Phase-correlation alignment with the residual shift logged in pixels and gated at 2 px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720">
                          <a:solidFill>
                            <a:srgbClr val="1B2430"/>
                          </a:solidFill>
                          <a:latin typeface="Arial"/>
                        </a:rPr>
                        <a:t>Compute budget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for several specialists on demo hardware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Demo instability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Shared backbone + swappable adapters · LRU model registry · int8 / ONNX quantisation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720">
                          <a:solidFill>
                            <a:srgbClr val="1B2430"/>
                          </a:solidFill>
                          <a:latin typeface="Arial"/>
                        </a:rPr>
                        <a:t>BigEarthNet.txt link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in the PS is unverified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Blocks the mandatory adaptation clause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Verify first; fallback to BigEarthNet-MM with generated captions — the PS permits any open-source training data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1" sz="720">
                          <a:solidFill>
                            <a:srgbClr val="1B2430"/>
                          </a:solidFill>
                          <a:latin typeface="Arial"/>
                        </a:rPr>
                        <a:t>Router confusion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between change and change-QA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Wrong output kind, scored wrong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b="0" sz="720">
                          <a:solidFill>
                            <a:srgbClr val="1B2430"/>
                          </a:solidFill>
                          <a:latin typeface="Arial"/>
                        </a:rPr>
                        <a:t>Training data weighted at that boundary; confusion matrix published; output_kind asserted before execution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7416" name="TextBox 17415"/>
          <p:cNvSpPr txBox="1"/>
          <p:nvPr/>
        </p:nvSpPr>
        <p:spPr>
          <a:xfrm>
            <a:off x="329184" y="4901184"/>
            <a:ext cx="11533601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050">
                <a:solidFill>
                  <a:srgbClr val="123A5C"/>
                </a:solidFill>
                <a:latin typeface="Arial"/>
              </a:rPr>
              <a:t>Build order — Stage 0 first, because every specialist needs the canonical tile contract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29184" y="5099608"/>
            <a:ext cx="11533601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Pentagon 17417"/>
          <p:cNvSpPr/>
          <p:nvPr/>
        </p:nvSpPr>
        <p:spPr>
          <a:xfrm>
            <a:off x="329184" y="5248656"/>
            <a:ext cx="1733872" cy="603504"/>
          </a:xfrm>
          <a:prstGeom prst="homePlate">
            <a:avLst>
              <a:gd name="adj" fmla="val 22000"/>
            </a:avLst>
          </a:prstGeom>
          <a:solidFill>
            <a:srgbClr val="123A5C"/>
          </a:solidFill>
          <a:ln w="7620">
            <a:solidFill>
              <a:srgbClr val="12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P0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BDD7EE"/>
                </a:solidFill>
                <a:latin typeface="Arial"/>
              </a:rPr>
              <a:t>sensor profiles · tile contract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1962472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P1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controller · gate · registry · trace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3595760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P2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QLoRA adaptation + GSD conditioning</a:t>
            </a:r>
          </a:p>
        </p:txBody>
      </p:sp>
      <p:sp>
        <p:nvSpPr>
          <p:cNvPr id="17421" name="Chevron 17420"/>
          <p:cNvSpPr/>
          <p:nvPr/>
        </p:nvSpPr>
        <p:spPr>
          <a:xfrm>
            <a:off x="5229048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P3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task heads → benchmarks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6862336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P4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calibration · conflict · abstain</a:t>
            </a:r>
          </a:p>
        </p:txBody>
      </p:sp>
      <p:sp>
        <p:nvSpPr>
          <p:cNvPr id="17423" name="Chevron 17422"/>
          <p:cNvSpPr/>
          <p:nvPr/>
        </p:nvSpPr>
        <p:spPr>
          <a:xfrm>
            <a:off x="8495625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P5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FastAPI · GUI · report · offline</a:t>
            </a:r>
          </a:p>
        </p:txBody>
      </p:sp>
      <p:sp>
        <p:nvSpPr>
          <p:cNvPr id="17424" name="Chevron 17423"/>
          <p:cNvSpPr/>
          <p:nvPr/>
        </p:nvSpPr>
        <p:spPr>
          <a:xfrm>
            <a:off x="10128913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123A5C"/>
          </a:solidFill>
          <a:ln w="7620">
            <a:solidFill>
              <a:srgbClr val="12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P6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BDD7EE"/>
                </a:solidFill>
                <a:latin typeface="Arial"/>
              </a:rPr>
              <a:t>ablations · final scorecard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eaLnBrk="1" hangingPunct="1" algn="ctr"/>
            <a:r>
              <a:rPr sz="3000" b="1">
                <a:solidFill>
                  <a:srgbClr val="123A5C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133856"/>
            <a:ext cx="2821678" cy="914400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C6B4F"/>
                </a:solidFill>
                <a:latin typeface="Arial"/>
              </a:rPr>
              <a:t>Agriculture &amp; water</a:t>
            </a:r>
          </a:p>
          <a:p>
            <a:pPr algn="ctr">
              <a:lnSpc>
                <a:spcPct val="92000"/>
              </a:lnSpc>
              <a:spcBef>
                <a:spcPts val="250"/>
              </a:spcBef>
              <a:spcAft>
                <a:spcPts val="0"/>
              </a:spcAft>
            </a:pPr>
            <a:r>
              <a:rPr sz="790" b="0">
                <a:solidFill>
                  <a:srgbClr val="1B2430"/>
                </a:solidFill>
                <a:latin typeface="Arial"/>
              </a:rPr>
              <a:t>crop-area change and water-body extent answered in a sentence, without a GIS analyst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133856"/>
            <a:ext cx="2821678" cy="38100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233158" y="1133856"/>
            <a:ext cx="2821678" cy="914400"/>
          </a:xfrm>
          <a:prstGeom prst="roundRect">
            <a:avLst>
              <a:gd name="adj" fmla="val 8000"/>
            </a:avLst>
          </a:prstGeom>
          <a:solidFill>
            <a:srgbClr val="FCF1E4"/>
          </a:solidFill>
          <a:ln w="9525">
            <a:solidFill>
              <a:srgbClr val="FCF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A85A16"/>
                </a:solidFill>
                <a:latin typeface="Arial"/>
              </a:rPr>
              <a:t>Disaster response</a:t>
            </a:r>
          </a:p>
          <a:p>
            <a:pPr algn="ctr">
              <a:lnSpc>
                <a:spcPct val="92000"/>
              </a:lnSpc>
              <a:spcBef>
                <a:spcPts val="250"/>
              </a:spcBef>
              <a:spcAft>
                <a:spcPts val="0"/>
              </a:spcAft>
            </a:pPr>
            <a:r>
              <a:rPr sz="790" b="0">
                <a:solidFill>
                  <a:srgbClr val="1B2430"/>
                </a:solidFill>
                <a:latin typeface="Arial"/>
              </a:rPr>
              <a:t>SAR sees through cloud and at night — flood and damage extent when optical is useless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233158" y="1133856"/>
            <a:ext cx="2821678" cy="38100"/>
          </a:xfrm>
          <a:prstGeom prst="rect">
            <a:avLst/>
          </a:prstGeom>
          <a:solidFill>
            <a:srgbClr val="A85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137132" y="1133856"/>
            <a:ext cx="2821678" cy="914400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E8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070C0"/>
                </a:solidFill>
                <a:latin typeface="Arial"/>
              </a:rPr>
              <a:t>Urban &amp; infrastructure</a:t>
            </a:r>
          </a:p>
          <a:p>
            <a:pPr algn="ctr">
              <a:lnSpc>
                <a:spcPct val="92000"/>
              </a:lnSpc>
              <a:spcBef>
                <a:spcPts val="250"/>
              </a:spcBef>
              <a:spcAft>
                <a:spcPts val="0"/>
              </a:spcAft>
            </a:pPr>
            <a:r>
              <a:rPr sz="790" b="0">
                <a:solidFill>
                  <a:srgbClr val="1B2430"/>
                </a:solidFill>
                <a:latin typeface="Arial"/>
              </a:rPr>
              <a:t>“has built-up area increased?” with the change mask and the areas behind the claim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6137132" y="1133856"/>
            <a:ext cx="2821678" cy="38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9041107" y="1133856"/>
            <a:ext cx="2821678" cy="914400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C6B4F"/>
                </a:solidFill>
                <a:latin typeface="Arial"/>
              </a:rPr>
              <a:t>Forest &amp; environment</a:t>
            </a:r>
          </a:p>
          <a:p>
            <a:pPr algn="ctr">
              <a:lnSpc>
                <a:spcPct val="92000"/>
              </a:lnSpc>
              <a:spcBef>
                <a:spcPts val="250"/>
              </a:spcBef>
              <a:spcAft>
                <a:spcPts val="0"/>
              </a:spcAft>
            </a:pPr>
            <a:r>
              <a:rPr sz="790" b="0">
                <a:solidFill>
                  <a:srgbClr val="1B2430"/>
                </a:solidFill>
                <a:latin typeface="Arial"/>
              </a:rPr>
              <a:t>encroachment and land-cover shift tracked from open multitemporal imagery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9041107" y="1133856"/>
            <a:ext cx="2821678" cy="38100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29184" y="2267712"/>
            <a:ext cx="5650992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100">
                <a:solidFill>
                  <a:srgbClr val="123A5C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29184" y="2471623"/>
            <a:ext cx="5650992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329184" y="2578608"/>
            <a:ext cx="5650992" cy="35661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940">
                <a:solidFill>
                  <a:srgbClr val="1B2430"/>
                </a:solidFill>
                <a:latin typeface="Arial"/>
              </a:rPr>
              <a:t>•  </a:t>
            </a:r>
            <a:r>
              <a:rPr b="1" sz="940">
                <a:solidFill>
                  <a:srgbClr val="1B2430"/>
                </a:solidFill>
                <a:latin typeface="Arial"/>
              </a:rPr>
              <a:t>Non-expert decision makers</a:t>
            </a:r>
            <a:r>
              <a:rPr b="0" sz="940">
                <a:solidFill>
                  <a:srgbClr val="1B2430"/>
                </a:solidFill>
                <a:latin typeface="Arial"/>
              </a:rPr>
              <a:t> — district officers, panchayat and municipal staff, NGO field teams. Satellite evidence becomes a question in plain language instead of a GIS workflow, a model choice and a parameter set.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b="0" sz="940">
                <a:solidFill>
                  <a:srgbClr val="1B2430"/>
                </a:solidFill>
                <a:latin typeface="Arial"/>
              </a:rPr>
              <a:t>•  </a:t>
            </a:r>
            <a:r>
              <a:rPr b="1" sz="940">
                <a:solidFill>
                  <a:srgbClr val="1B2430"/>
                </a:solidFill>
                <a:latin typeface="Arial"/>
              </a:rPr>
              <a:t>ISRO / SAC and state remote-sensing centres</a:t>
            </a:r>
            <a:r>
              <a:rPr b="0" sz="940">
                <a:solidFill>
                  <a:srgbClr val="1B2430"/>
                </a:solidFill>
                <a:latin typeface="Arial"/>
              </a:rPr>
              <a:t> — the auditable trace (task, model, version, weights hash, parameters, confidence) makes an AI answer defensible in an operational report, which is what blocks adoption today.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b="0" sz="940">
                <a:solidFill>
                  <a:srgbClr val="1B2430"/>
                </a:solidFill>
                <a:latin typeface="Arial"/>
              </a:rPr>
              <a:t>•  </a:t>
            </a:r>
            <a:r>
              <a:rPr b="1" sz="940">
                <a:solidFill>
                  <a:srgbClr val="1B2430"/>
                </a:solidFill>
                <a:latin typeface="Arial"/>
              </a:rPr>
              <a:t>Analysts</a:t>
            </a:r>
            <a:r>
              <a:rPr b="0" sz="940">
                <a:solidFill>
                  <a:srgbClr val="1B2430"/>
                </a:solidFill>
                <a:latin typeface="Arial"/>
              </a:rPr>
              <a:t> — triage at query speed. Routine questions are answered and evidenced automatically; expert time goes to the cases the system declines, which it names explicitly.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b="0" sz="940">
                <a:solidFill>
                  <a:srgbClr val="1B2430"/>
                </a:solidFill>
                <a:latin typeface="Arial"/>
              </a:rPr>
              <a:t>•  </a:t>
            </a:r>
            <a:r>
              <a:rPr b="1" sz="940">
                <a:solidFill>
                  <a:srgbClr val="1B2430"/>
                </a:solidFill>
                <a:latin typeface="Arial"/>
              </a:rPr>
              <a:t>Researchers and students</a:t>
            </a:r>
            <a:r>
              <a:rPr b="0" sz="940">
                <a:solidFill>
                  <a:srgbClr val="1B2430"/>
                </a:solidFill>
                <a:latin typeface="Arial"/>
              </a:rPr>
              <a:t> — one registry, one contract, six tasks: a new specialist can be added behind the same run() signature without touching the controller.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b="0" sz="940">
                <a:solidFill>
                  <a:srgbClr val="1B2430"/>
                </a:solidFill>
                <a:latin typeface="Arial"/>
              </a:rPr>
              <a:t>•  </a:t>
            </a:r>
            <a:r>
              <a:rPr b="1" sz="940">
                <a:solidFill>
                  <a:srgbClr val="1B2430"/>
                </a:solidFill>
                <a:latin typeface="Arial"/>
              </a:rPr>
              <a:t>Reach:</a:t>
            </a:r>
            <a:r>
              <a:rPr b="0" sz="940">
                <a:solidFill>
                  <a:srgbClr val="1B2430"/>
                </a:solidFill>
                <a:latin typeface="Arial"/>
              </a:rPr>
              <a:t> browser-based, offline-capable, CPU-viable for the router and quantised heads — usable on district hardware and on an air-gapped laptop, not only on a GPU workstation.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144768" y="2267712"/>
            <a:ext cx="5718017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100">
                <a:solidFill>
                  <a:srgbClr val="123A5C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144768" y="2471623"/>
            <a:ext cx="5718017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144768" y="2578608"/>
            <a:ext cx="5718017" cy="822960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E8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070C0"/>
                </a:solidFill>
                <a:latin typeface="Arial"/>
              </a:rPr>
              <a:t>Social</a:t>
            </a:r>
          </a:p>
          <a:p>
            <a:pPr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1B2430"/>
                </a:solidFill>
                <a:latin typeface="Arial"/>
              </a:rPr>
              <a:t>Democratises satellite intelligence — no GIS training needed. Faster disaster and flood assessment where cloud cover blocks optical imagery.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6144768" y="2578608"/>
            <a:ext cx="40640" cy="8229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6144768" y="3493008"/>
            <a:ext cx="5718017" cy="822960"/>
          </a:xfrm>
          <a:prstGeom prst="roundRect">
            <a:avLst>
              <a:gd name="adj" fmla="val 8000"/>
            </a:avLst>
          </a:prstGeom>
          <a:solidFill>
            <a:srgbClr val="FCF1E4"/>
          </a:solidFill>
          <a:ln w="9525">
            <a:solidFill>
              <a:srgbClr val="FCF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A85A16"/>
                </a:solidFill>
                <a:latin typeface="Arial"/>
              </a:rPr>
              <a:t>Economic</a:t>
            </a:r>
          </a:p>
          <a:p>
            <a:pPr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1B2430"/>
                </a:solidFill>
                <a:latin typeface="Arial"/>
              </a:rPr>
              <a:t>One shared adapted backbone replaces several siloed deployments. Analyst hours shift from routine extraction to judgement; no licence cost — open data, open weights.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6144768" y="3493008"/>
            <a:ext cx="40640" cy="822960"/>
          </a:xfrm>
          <a:prstGeom prst="rect">
            <a:avLst/>
          </a:prstGeom>
          <a:solidFill>
            <a:srgbClr val="A85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144768" y="4407408"/>
            <a:ext cx="5718017" cy="822960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2C6B4F"/>
                </a:solidFill>
                <a:latin typeface="Arial"/>
              </a:rPr>
              <a:t>Environmental</a:t>
            </a:r>
          </a:p>
          <a:p>
            <a:pPr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1B2430"/>
                </a:solidFill>
                <a:latin typeface="Arial"/>
              </a:rPr>
              <a:t>Continuous, low-cost monitoring of deforestation, water bodies, encroachment and land-cover change from freely available multitemporal imagery.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6144768" y="4407408"/>
            <a:ext cx="40640" cy="822960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6144768" y="5321808"/>
            <a:ext cx="5718017" cy="822960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E8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23A5C"/>
                </a:solidFill>
                <a:latin typeface="Arial"/>
              </a:rPr>
              <a:t>Strategic / trust</a:t>
            </a:r>
          </a:p>
          <a:p>
            <a:pPr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1B2430"/>
                </a:solidFill>
                <a:latin typeface="Arial"/>
              </a:rPr>
              <a:t>Confidence is calibrated, conflicts between specialists are surfaced, and the system declines rather than guessing — abstention precision is a reported metric, not a disclaimer.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6144768" y="5321808"/>
            <a:ext cx="40640" cy="822960"/>
          </a:xfrm>
          <a:prstGeom prst="rect">
            <a:avLst/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eaLnBrk="1" hangingPunct="1" algn="ctr"/>
            <a:r>
              <a:rPr sz="3000" b="1">
                <a:solidFill>
                  <a:srgbClr val="123A5C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15568"/>
            <a:ext cx="11533601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1" sz="1100">
                <a:solidFill>
                  <a:srgbClr val="123A5C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319479"/>
            <a:ext cx="11533601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572768"/>
            <a:ext cx="3753093" cy="36576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Datasets · mandated &amp; training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9184" y="1938528"/>
            <a:ext cx="3753093" cy="303580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E8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97000"/>
              </a:lnSpc>
              <a:spcBef>
                <a:spcPts val="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BigEarthNet.txt — S1 SAR + S2 MSI + text, primary adaptation corpus (PS link: arxiv.org/abs/2603.29630)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BigEarthNet-MM — bigearth.net (fallback if the .txt release is unavailable)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LEVIR-CD · OSCD · SECOND — change-detection training; SECOND underlies CDVQA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DOTA · DIOR / DIOR-RSVG · LoveDA · ISPRS Potsdam &amp; Vaihingen — high-resolution open data for the resolution-gap holdout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19437" y="1572768"/>
            <a:ext cx="3753093" cy="365760"/>
          </a:xfrm>
          <a:prstGeom prst="roundRect">
            <a:avLst>
              <a:gd name="adj" fmla="val 8000"/>
            </a:avLst>
          </a:prstGeom>
          <a:solidFill>
            <a:srgbClr val="2C6B4F"/>
          </a:solidFill>
          <a:ln w="9525">
            <a:solidFill>
              <a:srgbClr val="2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Benchmarks · prescribed evaluation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19437" y="1938528"/>
            <a:ext cx="3753093" cy="3035808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97000"/>
              </a:lnSpc>
              <a:spcBef>
                <a:spcPts val="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VRSBench — captioning, referring grounding and VQA on the same imagery (vrsbench.github.io)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RSVQA LR / HR — rsvqa.sylvainlobry.com, prescribed test splits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CDVQA — change-based VQA, scored by question type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ISRO / SAC evaluation set — pre-georeferenced, co-registered Cartosat-2S optical + RISAT SAR pairs; annotations undisclosed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Metrics: accuracy by question type · CIDEr / BLEU-4 / ROUGE-L · acc@IoU 0.5 · change F1 / IoU · per-class IoU · ECE · abstention precision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09691" y="1572768"/>
            <a:ext cx="3753093" cy="365760"/>
          </a:xfrm>
          <a:prstGeom prst="roundRect">
            <a:avLst>
              <a:gd name="adj" fmla="val 8000"/>
            </a:avLst>
          </a:prstGeom>
          <a:solidFill>
            <a:srgbClr val="A85A16"/>
          </a:solidFill>
          <a:ln w="9525">
            <a:solidFill>
              <a:srgbClr val="A8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Models · methods · tooling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09691" y="1938528"/>
            <a:ext cx="3753093" cy="3035808"/>
          </a:xfrm>
          <a:prstGeom prst="roundRect">
            <a:avLst>
              <a:gd name="adj" fmla="val 8000"/>
            </a:avLst>
          </a:prstGeom>
          <a:solidFill>
            <a:srgbClr val="FCF1E4"/>
          </a:solidFill>
          <a:ln w="9525">
            <a:solidFill>
              <a:srgbClr val="FCF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97000"/>
              </a:lnSpc>
              <a:spcBef>
                <a:spcPts val="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RemoteCLIP — RS vision-language pretraining (arXiv:2306.11029) · SigLIP (arXiv:2303.15343)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QLoRA — 4-bit adapter tuning (arXiv:2305.14314) · PEFT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LLaVA — visual instruction tuning (arXiv:2304.08485) · GeoChat (arXiv:2311.15826)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ChangeFormer (arXiv:2201.01293) · BiT (arXiv:2103.00208) · CLIPSeg (arXiv:2112.10003) · SAM (arXiv:2304.02643)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Calibration: temperature scaling (arXiv:1706.04599) · refined-Lee speckle filter · rasterio / GDAL · FastAPI · PyTorch · ONNX Runtime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9184" y="5138928"/>
            <a:ext cx="11533601" cy="621792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3716" bIns="13716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3A5C"/>
                </a:solidFill>
                <a:latin typeface="Arial"/>
              </a:rPr>
              <a:t>Prototype and design artefacts in this repository:  index.html (working browser GUI — 3D globe, satellite basemap, 6 feature benches, live trace)  ·  demo/server.py (stub API matching the planned /upload and /query contract)  ·  docs/SatQuery_AI_Pipeline_SIH26167.pdf (full seven-stage engineering specification)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29184" y="5138928"/>
            <a:ext cx="40640" cy="621792"/>
          </a:xfrm>
          <a:prstGeom prst="rect">
            <a:avLst/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329184" y="5870448"/>
            <a:ext cx="11533601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b="0" sz="740">
                <a:solidFill>
                  <a:srgbClr val="5A6673"/>
                </a:solidFill>
                <a:latin typeface="Arial"/>
              </a:rPr>
              <a:t>Problem statement text retrieved from sih.gov.in/sih2026PS on 8 September 2026. Idea submission deadline: 30 September 2026. The BigEarthNet.txt link printed in the problem statement is unverified and has a documented fallback.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Sharanya</cp:lastModifiedBy>
  <cp:revision>148</cp:revision>
  <dcterms:created xsi:type="dcterms:W3CDTF">2013-12-12T18:46:50Z</dcterms:created>
  <dcterms:modified xsi:type="dcterms:W3CDTF">2026-09-07T15:53:03Z</dcterms:modified>
  <cp:category/>
</cp:coreProperties>
</file>